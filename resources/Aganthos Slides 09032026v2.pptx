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1" r:id="rId2"/>
  </p:sldMasterIdLst>
  <p:notesMasterIdLst>
    <p:notesMasterId r:id="rId17"/>
  </p:notesMasterIdLst>
  <p:sldIdLst>
    <p:sldId id="357" r:id="rId3"/>
    <p:sldId id="333" r:id="rId4"/>
    <p:sldId id="431" r:id="rId5"/>
    <p:sldId id="409" r:id="rId6"/>
    <p:sldId id="452" r:id="rId7"/>
    <p:sldId id="457" r:id="rId8"/>
    <p:sldId id="466" r:id="rId9"/>
    <p:sldId id="467" r:id="rId10"/>
    <p:sldId id="462" r:id="rId11"/>
    <p:sldId id="388" r:id="rId12"/>
    <p:sldId id="463" r:id="rId13"/>
    <p:sldId id="464" r:id="rId14"/>
    <p:sldId id="421" r:id="rId15"/>
    <p:sldId id="408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F3AF103-B482-5840-9D6E-8BBEBEB6DC20}">
          <p14:sldIdLst>
            <p14:sldId id="357"/>
            <p14:sldId id="333"/>
            <p14:sldId id="431"/>
            <p14:sldId id="409"/>
            <p14:sldId id="452"/>
            <p14:sldId id="457"/>
            <p14:sldId id="466"/>
            <p14:sldId id="467"/>
            <p14:sldId id="462"/>
            <p14:sldId id="388"/>
            <p14:sldId id="463"/>
            <p14:sldId id="464"/>
            <p14:sldId id="421"/>
            <p14:sldId id="408"/>
          </p14:sldIdLst>
        </p14:section>
        <p14:section name="Appendix" id="{A69B0D68-21E3-384C-9AAB-87FD4BD7849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795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A56022-BD46-7617-2AA7-DE8D10901959}" name="Robert Mueller" initials="RM" userId="S::robert.mueller@rotaract.ch::d2cd665e-c42b-446f-b5f5-95b3dae6952d" providerId="AD"/>
  <p188:author id="{B514092D-D1AF-9117-811A-AA8B6302D282}" name="Tobias Schuster" initials="TS" userId="S::lshts17@lshtm.ac.uk::5080a9c4-f815-4ffc-a9ba-dd40980216e7" providerId="AD"/>
  <p188:author id="{8443ED59-20C7-4FDF-8DCA-8A14D1AA1C8C}" name="Microsoft Office User" initials="MOU" userId="Microsoft Office User" providerId="None"/>
  <p188:author id="{516A7470-9908-58ED-E9A2-079BE3F49BD7}" name="PROBST Cynthia" initials="CP" userId="S::cynthia.probst@unifr.ch::f3292cd1-6f77-4357-ae3b-711548a8dcc6" providerId="AD"/>
  <p188:author id="{0D2A407A-E61B-F31F-1F2A-4760D76B4E86}" name="robert.mueller@rotaract.ch" initials="ro" userId="S::urn:spo:guest#robert.mueller@rotaract.ch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5C85A8"/>
    <a:srgbClr val="6AAD78"/>
    <a:srgbClr val="CB8044"/>
    <a:srgbClr val="D69355"/>
    <a:srgbClr val="70050B"/>
    <a:srgbClr val="350304"/>
    <a:srgbClr val="6B0409"/>
    <a:srgbClr val="7B060C"/>
    <a:srgbClr val="5003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5"/>
    <p:restoredTop sz="94674"/>
  </p:normalViewPr>
  <p:slideViewPr>
    <p:cSldViewPr snapToGrid="0">
      <p:cViewPr varScale="1">
        <p:scale>
          <a:sx n="69" d="100"/>
          <a:sy n="69" d="100"/>
        </p:scale>
        <p:origin x="208" y="1544"/>
      </p:cViewPr>
      <p:guideLst>
        <p:guide orient="horz" pos="2251"/>
        <p:guide pos="3795"/>
        <p:guide pos="39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26E2B1-6AF9-F84C-9515-AA0E417DFABB}" type="datetimeFigureOut">
              <a:rPr lang="de-CH" smtClean="0"/>
              <a:t>09.03.26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E5BEC-4008-EE42-9D02-616439551BBF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8045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2023-9CF2-E5E8-138F-37E380417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39EBEEC-A1F9-2A87-2D3D-662ADB9CE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D047D1D-C817-706A-0791-381FDC0D2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1A9EB3-6487-F0B4-04AA-04507EE98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E5BEC-4008-EE42-9D02-616439551BBF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4939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E5BEC-4008-EE42-9D02-616439551BBF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8688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5D3FC-D191-5E5A-4D7D-067FECE3A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E20D4-89C2-2E58-B9A0-7648F2F25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AFDEC-A557-13D9-9502-1C175840C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88CC5-842D-B768-5AC6-F1295CDFA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E5BEC-4008-EE42-9D02-616439551BBF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796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sz="1200" b="1" noProof="0">
                <a:solidFill>
                  <a:schemeClr val="bg1"/>
                </a:solidFill>
              </a:rPr>
              <a:t>Unreliable &amp; insufficient performance: </a:t>
            </a:r>
            <a:r>
              <a:rPr lang="en-GB" sz="1200" noProof="0">
                <a:solidFill>
                  <a:schemeClr val="bg1"/>
                </a:solidFill>
              </a:rPr>
              <a:t>manual correction and constant oversight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200" b="1" noProof="0">
                <a:solidFill>
                  <a:schemeClr val="bg1"/>
                </a:solidFill>
              </a:rPr>
              <a:t>Privacy barriers: </a:t>
            </a:r>
            <a:r>
              <a:rPr lang="en-GB" sz="1200" noProof="0">
                <a:solidFill>
                  <a:schemeClr val="bg1"/>
                </a:solidFill>
              </a:rPr>
              <a:t>Sensitive data can’t leave the organisation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200" b="1" noProof="0">
                <a:solidFill>
                  <a:schemeClr val="bg1"/>
                </a:solidFill>
              </a:rPr>
              <a:t>Rising model costs: </a:t>
            </a:r>
            <a:r>
              <a:rPr lang="en-GB" sz="1200" noProof="0">
                <a:solidFill>
                  <a:schemeClr val="bg1"/>
                </a:solidFill>
              </a:rPr>
              <a:t>model spend grows with usage</a:t>
            </a:r>
          </a:p>
          <a:p>
            <a:pPr marL="514350" indent="-514350">
              <a:buFont typeface="+mj-lt"/>
              <a:buAutoNum type="arabicPeriod"/>
            </a:pPr>
            <a:endParaRPr lang="en-GB" sz="1200" noProof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1200" noProof="0">
                <a:solidFill>
                  <a:schemeClr val="bg1"/>
                </a:solidFill>
              </a:rPr>
              <a:t>We </a:t>
            </a:r>
            <a:r>
              <a:rPr lang="en-GB" sz="1200" noProof="0" err="1">
                <a:solidFill>
                  <a:schemeClr val="bg1"/>
                </a:solidFill>
              </a:rPr>
              <a:t>addreass</a:t>
            </a:r>
            <a:r>
              <a:rPr lang="en-GB" sz="1200" noProof="0">
                <a:solidFill>
                  <a:schemeClr val="bg1"/>
                </a:solidFill>
              </a:rPr>
              <a:t> each one of them</a:t>
            </a:r>
          </a:p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E5BEC-4008-EE42-9D02-616439551BBF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715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E5BEC-4008-EE42-9D02-616439551BBF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5968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27221-F2C2-FACF-FFD9-0872357E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F927A-189D-5EA7-E11E-7FB160169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1D35E-5F17-BCD3-027D-5746FB9B6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08C4B-365D-C67D-8152-D48A37AD4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E5BEC-4008-EE42-9D02-616439551BBF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14853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24B65-0702-00FD-731B-F307F7C5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8DF979D-0495-3391-8A5A-7C2DA170B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D81171C-3557-0208-5C18-2395EEADA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095D9F-006A-0887-FD33-1983ECD08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E5BEC-4008-EE42-9D02-616439551BBF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3402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01EE9-EEE9-3CDA-3A0D-73243512F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91FFA9C-2F53-7704-821D-61DD3624B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D069910-1409-E299-B840-DE8BE48FD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E7C2B3-C9F9-39B6-14B1-1B178D67E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E5BEC-4008-EE42-9D02-616439551BBF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5535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23C3-5082-0EB0-A031-62C058BD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47732-B48C-F495-9F70-E1CF4A691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6E60B-44F2-F36C-1CD6-AF7ED1D39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408ED-95A3-11B2-23E7-D9E99E62F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E5BEC-4008-EE42-9D02-616439551BBF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32408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7AEC3-CD05-EF50-2C79-1CD25E3F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B4391-ED20-4BE7-05AA-4C6C39C36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18100-EED1-5B1B-2AA1-FF8ECA18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</a:t>
            </a:r>
            <a:r>
              <a:rPr lang="en-CH"/>
              <a:t>gf. </a:t>
            </a:r>
            <a:r>
              <a:rPr lang="en-GB"/>
              <a:t>A</a:t>
            </a:r>
            <a:r>
              <a:rPr lang="en-CH"/>
              <a:t>uf zwei Folien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738BA-FCAF-BDE0-DD96-500AFBF2E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E5BEC-4008-EE42-9D02-616439551BBF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6147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335C02-C60C-0A24-C475-40DBAE303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9BBAA7C-AED0-E932-55D5-1957D2DF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1C4E3F-9AD8-059C-CFE4-5FFBD2B02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2F68-FC28-4848-A82C-C6895B537B33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E5F4FE-206F-1013-A6D2-2A97E0EE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949BB1-B8A0-44BF-489A-763A9D09C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1013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E1C58C-D840-C031-61AB-FFD6BFD0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B0D30F-1FFF-01E5-3C84-DFB645595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384F01-FB4B-DEB6-E222-C01E2B7F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A9524-99A2-8E4A-AB79-0C1164052C2A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0C4C7C-6E96-C843-D1F1-4C174BA0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F59E96-4362-0116-9A6E-73F72EFF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1442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1B7E5E-977F-936A-C610-983BFCC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B70903-6857-DE0A-B08F-3659433B9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F80C0-6121-0039-D2AF-F1F68DCA0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443A-DC9D-F64B-9F9B-152386002F23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01608A-E478-326A-D138-2247AD96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6ADB01-5607-256C-C683-70A66234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461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43496D-5D3A-1300-BD89-151A003C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C4101C-D609-F891-ED0C-C5BDC2969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12F1998-FA52-8632-A825-5F836C1BE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A6800D-6426-C3E1-F76E-E172FCE7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461-C787-4846-BDA6-2AA8825FA326}" type="datetime1">
              <a:rPr lang="de-CH" smtClean="0"/>
              <a:t>09.03.26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1133CF-B8A1-5CB9-51A3-9A6C38340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B24496-ADBB-BF0D-168A-05F58CACA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343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F36D6A-2A8D-22A7-C81A-9CB88660B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81E78C-7689-8311-A1E9-2C21F1D4B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7D3B820-804D-2BE3-5C0F-F3FD74E0A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9A8C9F3-25C0-CCFD-33FE-54D7613CA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588A06-7F16-371D-48A5-B66DDBC5E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F52C4CC-514B-3DEB-D19C-A4D80FC4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8077C-7F25-8047-9C4E-EAB22AAAB465}" type="datetime1">
              <a:rPr lang="de-CH" smtClean="0"/>
              <a:t>09.03.26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0A03414-CD0C-B130-FDE0-7D9419E0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7287638-F739-0DA1-2DD0-960CC51B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2280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890DA2-693A-65E6-11C0-F966351E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FA3E22-F6EC-E29D-B425-864D31A04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51D4-7716-0B41-AB75-87CD5811310B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290EC3-3DB4-3FB0-1FD0-743E1CEE2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FCA8C16-FB96-DE17-ECD3-399932C3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3217" y="6356350"/>
            <a:ext cx="2743200" cy="365125"/>
          </a:xfrm>
        </p:spPr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5352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CE9684-6218-4E60-D899-E051B6893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A1325F4-CC00-C53A-AABB-11CA4742F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FFCA-D5FD-0C4F-8BE6-E408E2D04357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A565FE-88F1-AC7D-17AC-D89386E32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601591-C0E5-5E4D-F1A6-9931A3D4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017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4A0B619-D44B-74A6-FF8E-CCE5B63F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8B10-1216-F845-9D75-43BBDEF79EAB}" type="datetime1">
              <a:rPr lang="de-CH" smtClean="0"/>
              <a:t>09.03.26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55A1FB-250F-F142-7EE5-AAC91ED17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AFA7B4-5C4E-BD0B-537E-CCADD6D49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81830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4AF19-AEEE-E84B-53D1-03AD47019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AD4A14-14C7-A309-34C8-4C65264AC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FFF4D3-040A-82A5-DB79-8A5FC61FC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38EA9E-7484-0262-A964-21DCD3E44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32C8F-6D19-894E-BCA9-6A3082DBBBB0}" type="datetime1">
              <a:rPr lang="de-CH" smtClean="0"/>
              <a:t>09.03.26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9AD1EB-281B-80B0-B1A0-4E7E6B0C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24469D-C0E3-0653-36F3-E55A6A70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01374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8D1EE6-3792-B502-21B4-2DFDAE2EF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4FB22D7-08D0-85AB-8EBE-1999E990C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E0E584-E913-16A5-886A-A0C0520FE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41B5BF-7FC6-DE7A-05B1-0DA28E81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C461-C64A-9A4B-906F-D95DD234F6C9}" type="datetime1">
              <a:rPr lang="de-CH" smtClean="0"/>
              <a:t>09.03.26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C80760-009C-B1A8-6B1B-5C8D1CD9A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DE6646-BF98-3E55-6E83-139B8F2CC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0732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70676E-D866-7CE4-9B1B-27DE3BC9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D95792E-4944-2EC6-48C0-C159ED4A9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DAD1A8-8463-D16B-1289-C0446DD8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0CF56-E90B-584E-9251-3811E3E75AAC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A62F7-EB56-F89A-371A-7364FFFC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91284-EBBF-E541-45BA-A7A579FF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92061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898D65-135D-4328-43D0-F4D989D96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EBEC12-88A6-1223-918F-63A6366F4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3065AF-09FA-17A1-6E2E-D19D4F29B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BA5A-BB21-6D43-B074-B4F51E08B5E8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278D5B-4637-7013-4315-D43530B8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58B36F-8311-09BB-01AE-575D4727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5878-3DA2-6B40-93CC-83962CA7F31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8499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Nur Titel">
    <p:bg>
      <p:bgPr>
        <a:gradFill flip="none" rotWithShape="1">
          <a:gsLst>
            <a:gs pos="29000">
              <a:srgbClr val="7B060C"/>
            </a:gs>
            <a:gs pos="78000">
              <a:schemeClr val="tx1"/>
            </a:gs>
            <a:gs pos="100000">
              <a:schemeClr val="tx1"/>
            </a:gs>
            <a:gs pos="0">
              <a:srgbClr val="C0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EECA-E372-674A-A337-495E1CEA2F43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429D3ADE-F966-8104-975D-2DDBEB0F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0AB1B08-7AB2-F444-DFF5-88B1277D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E97E803-AC7A-56B0-5426-9D76214CDB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</p:spTree>
    <p:extLst>
      <p:ext uri="{BB962C8B-B14F-4D97-AF65-F5344CB8AC3E}">
        <p14:creationId xmlns:p14="http://schemas.microsoft.com/office/powerpoint/2010/main" val="620146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673F7B-62DF-564E-2AD4-D43971BB0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9B5418E-DE72-9DB3-77E5-8A9A8D7F0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12EBAA-9F52-D7E2-C14D-C9316ADF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0AC8-D3A8-C646-B9D0-7458B224FD06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2F08E7-F242-3FE2-EE5E-C72ACBA8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0B4D6-B315-5930-F8A8-8626A3192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4512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6490AA-DA0B-11F9-00A4-D6FA6394D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Aptos Light" panose="020B0004020202020204" pitchFamily="34" charset="0"/>
              </a:defRPr>
            </a:lvl1pPr>
            <a:lvl2pPr>
              <a:defRPr b="0" i="0">
                <a:latin typeface="Aptos Light" panose="020B0004020202020204" pitchFamily="34" charset="0"/>
              </a:defRPr>
            </a:lvl2pPr>
            <a:lvl3pPr>
              <a:defRPr b="0" i="0">
                <a:latin typeface="Aptos Light" panose="020B0004020202020204" pitchFamily="34" charset="0"/>
              </a:defRPr>
            </a:lvl3pPr>
            <a:lvl4pPr>
              <a:defRPr b="0" i="0">
                <a:latin typeface="Aptos Light" panose="020B0004020202020204" pitchFamily="34" charset="0"/>
              </a:defRPr>
            </a:lvl4pPr>
            <a:lvl5pPr>
              <a:defRPr b="0" i="0">
                <a:latin typeface="Aptos Light" panose="020B00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078FFE-E953-BCE6-B9BF-D5748AB3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7A4-504E-684C-9CD6-2FD1776BD4E1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EFE3F2-7A9C-68E2-5CC2-046A4E2E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005BF6-0A4A-BFF3-18C2-58BE6E43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1826" y="6356349"/>
            <a:ext cx="964096" cy="365125"/>
          </a:xfrm>
        </p:spPr>
        <p:txBody>
          <a:bodyPr/>
          <a:lstStyle>
            <a:lvl1pPr>
              <a:defRPr sz="1000" b="0" i="0">
                <a:solidFill>
                  <a:srgbClr val="7B060C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28D9766-0CD1-B19C-8B49-B3613BFA97A0}"/>
              </a:ext>
            </a:extLst>
          </p:cNvPr>
          <p:cNvSpPr txBox="1">
            <a:spLocks/>
          </p:cNvSpPr>
          <p:nvPr userDrawn="1"/>
        </p:nvSpPr>
        <p:spPr>
          <a:xfrm>
            <a:off x="359173" y="566531"/>
            <a:ext cx="11473654" cy="1033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err="1">
                <a:solidFill>
                  <a:srgbClr val="7B060C"/>
                </a:solidFill>
                <a:latin typeface="Aptos SemiBold" panose="020B0004020202020204" pitchFamily="34" charset="0"/>
              </a:rPr>
              <a:t>Mastertitel</a:t>
            </a:r>
            <a:endParaRPr lang="en-US" sz="4000" b="1">
              <a:solidFill>
                <a:srgbClr val="7B060C"/>
              </a:solidFill>
              <a:latin typeface="Aptos Semi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859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9622A9-9763-ECA1-1576-52EF7CCE6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352B14-EB4D-A353-27CD-B42A7F15B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7366C7-0EC8-6FB3-D466-35B1B3A8D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0AE5-67EE-EC4A-90F0-EA77A7418DDC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DC3D22-6572-DFB7-502A-B4E48186A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EE6C01-4CDC-4A63-E898-4F6069BD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195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23EFAF-8403-A9E6-FEA1-36CC3EE5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AE9840-5CF7-7FD3-03C8-E56629D4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0A4846-78FE-2F32-D452-8A8DDFEB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E8176E-9B69-9BB3-68A4-F920AE09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7A38-C8E8-1444-B57C-107FF9CF5417}" type="datetime1">
              <a:rPr lang="de-CH" smtClean="0"/>
              <a:t>09.03.26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44A4CC-560B-0DD7-883B-0E79C746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727E03-53F1-015D-9B31-74F8C998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89025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80150A-65F9-50DF-AD02-B3DEFA32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5AC216-FC44-9241-C868-16C6B31A3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A123D55-37A9-CB56-E6C7-10C34E0AA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67A6FB-B44C-DA86-C7F1-FE79A5A42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0745F58-F608-9255-73F7-0D0AC7BC5D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95C624-FE74-F233-E76D-0E90F556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25BB5-834B-6146-B824-A9543FD2BDCC}" type="datetime1">
              <a:rPr lang="de-CH" smtClean="0"/>
              <a:t>09.03.26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5220D88-1091-22A6-3150-3FF37964C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40DFB9-EEA9-13F6-F91D-4637FD59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89962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3DD3-638C-7842-B149-4493202B37A1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363889-2217-1878-788A-D62FF8C3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C10F97A-89DA-16A8-DB00-F9107C21A42B}"/>
              </a:ext>
            </a:extLst>
          </p:cNvPr>
          <p:cNvSpPr txBox="1">
            <a:spLocks/>
          </p:cNvSpPr>
          <p:nvPr userDrawn="1"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5585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57B5-03D5-044B-9C07-59339A86DFED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7905CF7-65E9-6EB7-AA7C-B601C850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49"/>
            <a:ext cx="964096" cy="365125"/>
          </a:xfrm>
        </p:spPr>
        <p:txBody>
          <a:bodyPr/>
          <a:lstStyle>
            <a:lvl1pPr>
              <a:defRPr sz="1000" b="0" i="0">
                <a:solidFill>
                  <a:srgbClr val="7B060C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69F828B-2FF1-EF7D-DC6E-B30E594B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7B060C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D2F2077-C12B-CD54-ED1A-89DAC88B51B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7B060C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0997A9C-F087-D44C-7F97-E8D02D5301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20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r Titel">
    <p:bg>
      <p:bgPr>
        <a:solidFill>
          <a:srgbClr val="7B06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69D0-20DD-104E-ADA3-786BAE559FBA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7905CF7-65E9-6EB7-AA7C-B601C850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rgbClr val="E8E8E8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0F90CB39-49F4-2A8A-0E38-ED2164A4E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CCE2512-04AD-9BC4-455E-0096FF2D7B9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385060" y="2994739"/>
            <a:ext cx="5989320" cy="86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CH" sz="2000" b="1" i="0">
              <a:solidFill>
                <a:srgbClr val="E8E8E8"/>
              </a:solidFill>
              <a:latin typeface="Aptos SemiBold" panose="020B0004020202020204" pitchFamily="34" charset="0"/>
            </a:endParaRP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2BED485D-4767-4211-16A8-B904697687C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93F2FC5-65A4-EAF2-67EC-274CF99C14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85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ur Titel">
    <p:bg>
      <p:bgPr>
        <a:gradFill>
          <a:gsLst>
            <a:gs pos="11000">
              <a:schemeClr val="tx1"/>
            </a:gs>
            <a:gs pos="100000">
              <a:srgbClr val="7B060C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69D0-20DD-104E-ADA3-786BAE559FBA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7905CF7-65E9-6EB7-AA7C-B601C850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0F90CB39-49F4-2A8A-0E38-ED2164A4E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CCE2512-04AD-9BC4-455E-0096FF2D7B9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385060" y="2994739"/>
            <a:ext cx="5989320" cy="86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CH" sz="2000" b="1" i="0">
              <a:solidFill>
                <a:srgbClr val="E8E8E8"/>
              </a:solidFill>
              <a:latin typeface="Aptos SemiBold" panose="020B0004020202020204" pitchFamily="34" charset="0"/>
            </a:endParaRP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2BED485D-4767-4211-16A8-B904697687C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4804FC2-C81D-D13F-A5B5-6E56546232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70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ur Titel">
    <p:bg>
      <p:bgPr>
        <a:gradFill>
          <a:gsLst>
            <a:gs pos="33000">
              <a:schemeClr val="tx1"/>
            </a:gs>
            <a:gs pos="100000">
              <a:srgbClr val="7B060C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DD4D-D1A1-E647-9009-52F1ED6BF7BD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8F08DEFF-5864-2C79-8482-128F52F44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7692480-5351-8C1F-E479-6F0D3CA3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3A269844-6C66-9B40-C8E9-8C70183E7B4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C8B8592-43A9-84EB-A652-6055801C38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098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ur Titel">
    <p:bg>
      <p:bgPr>
        <a:gradFill flip="none" rotWithShape="1">
          <a:gsLst>
            <a:gs pos="59000">
              <a:schemeClr val="tx1"/>
            </a:gs>
            <a:gs pos="0">
              <a:srgbClr val="7B060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EECA-E372-674A-A337-495E1CEA2F43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429D3ADE-F966-8104-975D-2DDBEB0F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0AB1B08-7AB2-F444-DFF5-88B1277D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E97E803-AC7A-56B0-5426-9D76214CDB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2511E05-2792-0CAA-1265-B84CAB67E9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87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ur Titel">
    <p:bg>
      <p:bgPr>
        <a:gradFill flip="none" rotWithShape="1">
          <a:gsLst>
            <a:gs pos="73000">
              <a:schemeClr val="tx1"/>
            </a:gs>
            <a:gs pos="100000">
              <a:srgbClr val="7B060C"/>
            </a:gs>
            <a:gs pos="100000">
              <a:srgbClr val="C00000"/>
            </a:gs>
            <a:gs pos="0">
              <a:schemeClr val="tx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EECA-E372-674A-A337-495E1CEA2F43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429D3ADE-F966-8104-975D-2DDBEB0F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rgbClr val="E8E8E8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0AB1B08-7AB2-F444-DFF5-88B1277D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E97E803-AC7A-56B0-5426-9D76214CDB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0AF6737-1971-6597-CA1E-57C7C1798D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0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Nur Titel">
    <p:bg>
      <p:bgPr>
        <a:gradFill flip="none" rotWithShape="1">
          <a:gsLst>
            <a:gs pos="73000">
              <a:schemeClr val="tx1"/>
            </a:gs>
            <a:gs pos="100000">
              <a:srgbClr val="7B060C"/>
            </a:gs>
            <a:gs pos="100000">
              <a:srgbClr val="C00000"/>
            </a:gs>
            <a:gs pos="0">
              <a:schemeClr val="tx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EECA-E372-674A-A337-495E1CEA2F43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429D3ADE-F966-8104-975D-2DDBEB0F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rgbClr val="E8E8E8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0AB1B08-7AB2-F444-DFF5-88B1277D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E97E803-AC7A-56B0-5426-9D76214CDB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E81B777-94B1-53CA-5824-0595E9F3D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44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Nur Titel">
    <p:bg>
      <p:bgPr>
        <a:gradFill flip="none" rotWithShape="1">
          <a:gsLst>
            <a:gs pos="73000">
              <a:schemeClr val="tx1"/>
            </a:gs>
            <a:gs pos="100000">
              <a:srgbClr val="7B060C"/>
            </a:gs>
            <a:gs pos="100000">
              <a:srgbClr val="C00000"/>
            </a:gs>
            <a:gs pos="0">
              <a:schemeClr val="tx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EECA-E372-674A-A337-495E1CEA2F43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429D3ADE-F966-8104-975D-2DDBEB0F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rgbClr val="E8E8E8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0AB1B08-7AB2-F444-DFF5-88B1277D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E97E803-AC7A-56B0-5426-9D76214CDB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1C493FF-F2EB-0E36-FD5B-F33109D6AA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44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ur Titel">
    <p:bg>
      <p:bgPr>
        <a:gradFill flip="none" rotWithShape="1">
          <a:gsLst>
            <a:gs pos="16000">
              <a:schemeClr val="tx1"/>
            </a:gs>
            <a:gs pos="100000">
              <a:schemeClr val="tx1"/>
            </a:gs>
            <a:gs pos="0">
              <a:srgbClr val="94110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EECA-E372-674A-A337-495E1CEA2F43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429D3ADE-F966-8104-975D-2DDBEB0F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0AB1B08-7AB2-F444-DFF5-88B1277D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E97E803-AC7A-56B0-5426-9D76214CDB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C9AB213-8A95-BF68-B99D-54D5CAD69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87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ur Titel">
    <p:bg>
      <p:bgPr>
        <a:gradFill flip="none" rotWithShape="1">
          <a:gsLst>
            <a:gs pos="22000">
              <a:schemeClr val="tx1"/>
            </a:gs>
            <a:gs pos="100000">
              <a:schemeClr val="tx1"/>
            </a:gs>
            <a:gs pos="0">
              <a:srgbClr val="9411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EECA-E372-674A-A337-495E1CEA2F43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429D3ADE-F966-8104-975D-2DDBEB0F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0AB1B08-7AB2-F444-DFF5-88B1277D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E97E803-AC7A-56B0-5426-9D76214CDB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7B17F10-7FFB-2C6F-86B4-972DA49B32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22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ur Titel">
    <p:bg>
      <p:bgPr>
        <a:gradFill flip="none" rotWithShape="1">
          <a:gsLst>
            <a:gs pos="16000">
              <a:schemeClr val="tx1"/>
            </a:gs>
            <a:gs pos="100000">
              <a:schemeClr val="tx1"/>
            </a:gs>
            <a:gs pos="0">
              <a:srgbClr val="94110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EECA-E372-674A-A337-495E1CEA2F43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429D3ADE-F966-8104-975D-2DDBEB0F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50"/>
            <a:ext cx="964096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0AB1B08-7AB2-F444-DFF5-88B1277D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E97E803-AC7A-56B0-5426-9D76214CDB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54CCA39-F970-A88A-6AA0-8D3198B4E4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87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Titel">
    <p:bg>
      <p:bgPr>
        <a:gradFill flip="none" rotWithShape="1">
          <a:gsLst>
            <a:gs pos="91000">
              <a:schemeClr val="bg2"/>
            </a:gs>
            <a:gs pos="49000">
              <a:srgbClr val="C00000"/>
            </a:gs>
            <a:gs pos="5000">
              <a:srgbClr val="7B060C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02B149-855C-9BC3-CA03-F7C6C748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E3DDA-B1A5-934C-A44C-B97C49E77DB7}" type="datetime1">
              <a:rPr lang="de-CH" smtClean="0"/>
              <a:t>09.03.26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1EB4-030B-C8E0-8525-896A3B1C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0" i="0">
                <a:solidFill>
                  <a:schemeClr val="bg2"/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24E9F6C4-568D-8B16-0A95-9830BD8B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65" y="6356349"/>
            <a:ext cx="964096" cy="365125"/>
          </a:xfrm>
        </p:spPr>
        <p:txBody>
          <a:bodyPr/>
          <a:lstStyle>
            <a:lvl1pPr>
              <a:defRPr sz="1000" b="0" i="0">
                <a:solidFill>
                  <a:srgbClr val="7B060C"/>
                </a:solidFill>
                <a:latin typeface="Aptos Light" panose="020B0004020202020204" pitchFamily="34" charset="0"/>
              </a:defRPr>
            </a:lvl1pPr>
          </a:lstStyle>
          <a:p>
            <a:fld id="{74854C1B-64E7-DA42-8A28-A9FD34C52B5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C3DE142D-F7EF-88CD-F148-14C1254D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637349"/>
            <a:ext cx="11473654" cy="1325563"/>
          </a:xfrm>
        </p:spPr>
        <p:txBody>
          <a:bodyPr>
            <a:normAutofit/>
          </a:bodyPr>
          <a:lstStyle>
            <a:lvl1pPr algn="ctr">
              <a:defRPr sz="39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8AD04C4-4DA0-7000-076C-62195076D385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385060" y="2994739"/>
            <a:ext cx="5989320" cy="86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CH" sz="2000" b="1" i="0">
              <a:solidFill>
                <a:srgbClr val="E8E8E8"/>
              </a:solidFill>
              <a:latin typeface="Aptos SemiBold" panose="020B0004020202020204" pitchFamily="34" charset="0"/>
            </a:endParaRP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838BBF89-1C8A-93F4-0526-D88E3DB3C99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 rot="16200000">
            <a:off x="-2433257" y="3084894"/>
            <a:ext cx="5719002" cy="823912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i="0">
                <a:solidFill>
                  <a:srgbClr val="E8E8E8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</a:t>
            </a:r>
          </a:p>
          <a:p>
            <a:pPr lvl="0"/>
            <a:r>
              <a:rPr lang="de-DE"/>
              <a:t>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B75C325-5F7E-FC89-ECBA-651CEDB75E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6223" y="220353"/>
            <a:ext cx="135211" cy="2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0032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88F7F0-4561-5268-6467-519FB38FD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A0023-9675-2848-90F0-E269F4FAC54A}" type="datetime1">
              <a:rPr lang="de-CH" smtClean="0"/>
              <a:t>09.03.26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0EC59C4-DB1D-454F-5168-EBFC42F3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FFD5F2D-B39A-7E28-8E69-FCFAA7CE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597924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EAFEE-760C-3631-BFC1-E8D4DF306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237BE0-63F9-560A-DADC-78C575D30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FBDEE6-8F37-2D28-FD11-93332F65B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9E4540-6742-3CDD-FE3E-6CC88C72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14A93-2F3E-FF4A-A018-65C90B44E786}" type="datetime1">
              <a:rPr lang="de-CH" smtClean="0"/>
              <a:t>09.03.26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6D9552-87F4-E8BF-7504-80850277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DEA02C-6A72-EC70-9B8F-AB5B8B59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41601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E11F86-04DB-F0AA-7D45-36CBC2A1A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C0A8A90-024E-338B-7E8D-B1A3DE25D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2B8875-A8AD-D442-B268-362572F78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DEB215-99F5-D0B3-ACFD-CC6C03DF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86F74-D130-0C4C-9210-ECA3E94FD9E9}" type="datetime1">
              <a:rPr lang="de-CH" smtClean="0"/>
              <a:t>09.03.26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50E571-B0B7-6DF9-1508-5080284E8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E5B450-1C12-92C2-E96C-2F7138E4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3090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FD24C-D1FF-6F43-39E8-70450073C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53A0B30-3BBA-B4BE-622D-12F13141D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888FEA-BE17-54B8-C396-E5C8C2D7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61BF-97E1-8A49-8021-C61778ACCBB8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57AF3F-1A82-E67D-3417-2801AEE5F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54647B-2932-7ED3-FA3D-2CBEDF16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131080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E3B5F76-8CC4-B2D4-CB3A-F74A2585A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AE19959-0A7D-414A-15F2-0B51BC743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C7B00F-1165-24F3-6F94-6892CA9A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05A6-B2D8-2B4A-858A-2441F97D6DDC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52251A-30B4-211E-6247-459AD6CD3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CD30DE-5C6E-79C3-D75A-DCBCFA8C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439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525F9CA-8376-35C3-2786-C69EA5212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7B7F76-2C15-483B-EDD7-CE20382CB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A5B0C4-9C02-0A2C-173F-146FDB714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6F19B1AD-BD44-CF44-8645-0F6511904FD6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99C01D-0C01-FEE8-49D0-87C2A3721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C2DE86-D3B9-ADFA-8AA8-6D9E971C8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936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7A365878-3DA2-6B40-93CC-83962CA7F313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551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8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855573-6DB1-48DA-ED60-5C8E8EB61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A28055-52CC-2EC2-3153-B164B4E95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0D138-0063-363B-DB06-7C50EC8A3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391A4-E942-1143-9C1F-F0F803C16CE2}" type="datetime1">
              <a:rPr lang="de-CH" smtClean="0"/>
              <a:t>09.03.26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22345A-89A3-D58C-05C5-184416726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64B674-0CBE-26CC-D4EA-DC3E821B7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54C1B-64E7-DA42-8A28-A9FD34C52B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512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3" r:id="rId6"/>
    <p:sldLayoutId id="2147483667" r:id="rId7"/>
    <p:sldLayoutId id="2147483674" r:id="rId8"/>
    <p:sldLayoutId id="2147483680" r:id="rId9"/>
    <p:sldLayoutId id="2147483675" r:id="rId10"/>
    <p:sldLayoutId id="2147483676" r:id="rId11"/>
    <p:sldLayoutId id="2147483678" r:id="rId12"/>
    <p:sldLayoutId id="2147483682" r:id="rId13"/>
    <p:sldLayoutId id="2147483687" r:id="rId14"/>
    <p:sldLayoutId id="2147483681" r:id="rId15"/>
    <p:sldLayoutId id="2147483679" r:id="rId16"/>
    <p:sldLayoutId id="2147483686" r:id="rId17"/>
    <p:sldLayoutId id="2147483677" r:id="rId18"/>
    <p:sldLayoutId id="2147483668" r:id="rId19"/>
    <p:sldLayoutId id="2147483669" r:id="rId20"/>
    <p:sldLayoutId id="2147483670" r:id="rId21"/>
    <p:sldLayoutId id="2147483671" r:id="rId22"/>
    <p:sldLayoutId id="2147483672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Relationship Id="rId14" Type="http://schemas.openxmlformats.org/officeDocument/2006/relationships/image" Target="../media/image2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6" Type="http://schemas.openxmlformats.org/officeDocument/2006/relationships/hyperlink" Target="http://www.aganthos.com/" TargetMode="Externa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41100"/>
            </a:gs>
            <a:gs pos="75000">
              <a:schemeClr val="tx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92004-CDD6-8304-DDA8-4A62711C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486C975-1932-130C-7A2E-D954AC25DF09}"/>
              </a:ext>
            </a:extLst>
          </p:cNvPr>
          <p:cNvSpPr txBox="1"/>
          <p:nvPr/>
        </p:nvSpPr>
        <p:spPr>
          <a:xfrm>
            <a:off x="4086578" y="55654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5BA09E4-8E68-73F1-0B14-928144BA1470}"/>
              </a:ext>
            </a:extLst>
          </p:cNvPr>
          <p:cNvSpPr txBox="1"/>
          <p:nvPr/>
        </p:nvSpPr>
        <p:spPr>
          <a:xfrm>
            <a:off x="4271309" y="5196090"/>
            <a:ext cx="61465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GB" noProof="0">
                <a:solidFill>
                  <a:schemeClr val="bg2"/>
                </a:solidFill>
              </a:rPr>
              <a:t>Organising the world’s human and artificial agents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8C80059-61A1-6A92-0BF0-8EAE6CF71DF9}"/>
              </a:ext>
            </a:extLst>
          </p:cNvPr>
          <p:cNvSpPr txBox="1"/>
          <p:nvPr/>
        </p:nvSpPr>
        <p:spPr>
          <a:xfrm rot="16200000">
            <a:off x="-3128918" y="3128918"/>
            <a:ext cx="6858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noProof="0">
                <a:solidFill>
                  <a:srgbClr val="E8E8E8"/>
                </a:solidFill>
              </a:rPr>
              <a:t>The information provided in this presentation (the “Materials”) is confidential and proprietary to </a:t>
            </a:r>
            <a:r>
              <a:rPr lang="en-GB" sz="500" noProof="0" err="1">
                <a:solidFill>
                  <a:srgbClr val="E8E8E8"/>
                </a:solidFill>
              </a:rPr>
              <a:t>Aganthos</a:t>
            </a:r>
            <a:r>
              <a:rPr lang="en-GB" sz="500" noProof="0">
                <a:solidFill>
                  <a:srgbClr val="E8E8E8"/>
                </a:solidFill>
              </a:rPr>
              <a:t> AI, Inc. and is provided for informational purposes only. These Materials contain forward-looking statements, estimates, and projections regarding </a:t>
            </a:r>
            <a:r>
              <a:rPr lang="en-GB" sz="500" noProof="0" err="1">
                <a:solidFill>
                  <a:srgbClr val="E8E8E8"/>
                </a:solidFill>
              </a:rPr>
              <a:t>Aganthos</a:t>
            </a:r>
            <a:r>
              <a:rPr lang="en-GB" sz="500" noProof="0">
                <a:solidFill>
                  <a:srgbClr val="E8E8E8"/>
                </a:solidFill>
              </a:rPr>
              <a:t> AI’s strategy, business model, and future performance. Actual results may vary materially from those projected due to market conditions, technology development, regulatory changes, and other factors. </a:t>
            </a:r>
            <a:r>
              <a:rPr lang="en-GB" sz="500" noProof="0" err="1">
                <a:solidFill>
                  <a:srgbClr val="E8E8E8"/>
                </a:solidFill>
              </a:rPr>
              <a:t>Aganthos</a:t>
            </a:r>
            <a:r>
              <a:rPr lang="en-GB" sz="500" noProof="0">
                <a:solidFill>
                  <a:srgbClr val="E8E8E8"/>
                </a:solidFill>
              </a:rPr>
              <a:t> AI assumes no obligation to update or revise these forward-looking statements. All intellectual property and content herein remain the sole property of </a:t>
            </a:r>
            <a:r>
              <a:rPr lang="en-GB" sz="500" noProof="0" err="1">
                <a:solidFill>
                  <a:srgbClr val="E8E8E8"/>
                </a:solidFill>
              </a:rPr>
              <a:t>Aganthos</a:t>
            </a:r>
            <a:r>
              <a:rPr lang="en-GB" sz="500" noProof="0">
                <a:solidFill>
                  <a:srgbClr val="E8E8E8"/>
                </a:solidFill>
              </a:rPr>
              <a:t> AI, Inc. Unauthorized use, distribution, or disclosure is strictly prohibited.</a:t>
            </a:r>
          </a:p>
          <a:p>
            <a:br>
              <a:rPr lang="en-GB" sz="600" noProof="0">
                <a:solidFill>
                  <a:srgbClr val="E8E8E8"/>
                </a:solidFill>
              </a:rPr>
            </a:br>
            <a:br>
              <a:rPr lang="en-GB" sz="600" noProof="0">
                <a:solidFill>
                  <a:srgbClr val="E8E8E8"/>
                </a:solidFill>
              </a:rPr>
            </a:br>
            <a:endParaRPr lang="en-GB" sz="600" noProof="0">
              <a:solidFill>
                <a:srgbClr val="E8E8E8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5EB8F6A-4A6A-A6B9-3F17-EB2E8F1B9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0524" y="4167628"/>
            <a:ext cx="6467312" cy="62357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5B0430-DD2D-5A1B-B142-291103C889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5178" y="4012617"/>
            <a:ext cx="600166" cy="93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8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056F924C-A6CA-523B-111D-FA6CDA255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7322" y="2332627"/>
            <a:ext cx="1185580" cy="509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F81F335-859C-3BEA-5B0B-89D40866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0760DBF-AFFE-BCF0-E9D0-670402E0F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latin typeface="Aptos SemiBold"/>
              </a:rPr>
              <a:t>Orchestrate the Future Together</a:t>
            </a:r>
            <a:endParaRPr lang="en-GB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4099C2-DC04-3BA9-2BD4-DE0AD0B74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/>
              <a:t>TEAM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751A72B-A75F-7385-5DF1-0815AA4CBF3D}"/>
              </a:ext>
            </a:extLst>
          </p:cNvPr>
          <p:cNvSpPr txBox="1"/>
          <p:nvPr/>
        </p:nvSpPr>
        <p:spPr>
          <a:xfrm>
            <a:off x="3880876" y="1680581"/>
            <a:ext cx="6626384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Founder: Pioneering AI from Research to Impact</a:t>
            </a:r>
            <a:endParaRPr lang="en-GB" sz="1600" b="1" noProof="0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rgbClr val="E8E8E8"/>
                </a:solidFill>
                <a:ea typeface="+mn-lt"/>
                <a:cs typeface="+mn-lt"/>
              </a:rPr>
              <a:t>A decade at the forefront of Reinforcement Learning (RL</a:t>
            </a:r>
            <a:r>
              <a:rPr lang="en-GB" sz="1600" dirty="0">
                <a:solidFill>
                  <a:srgbClr val="E8E8E8"/>
                </a:solidFill>
                <a:ea typeface="+mn-lt"/>
                <a:cs typeface="+mn-lt"/>
              </a:rPr>
              <a:t>); AISTATS Best Paper nominee 2022</a:t>
            </a:r>
            <a:endParaRPr lang="en-GB" sz="1600" noProof="0" dirty="0">
              <a:solidFill>
                <a:srgbClr val="E8E8E8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E8E8E8"/>
                </a:solidFill>
                <a:ea typeface="+mn-lt"/>
                <a:cs typeface="+mn-lt"/>
              </a:rPr>
              <a:t>From </a:t>
            </a:r>
            <a:r>
              <a:rPr lang="en-GB" sz="1600" noProof="0" dirty="0">
                <a:solidFill>
                  <a:srgbClr val="E8E8E8"/>
                </a:solidFill>
                <a:ea typeface="+mn-lt"/>
                <a:cs typeface="+mn-lt"/>
              </a:rPr>
              <a:t>theory to high-impact application: games, high-speed robotics, electron microscopes, web agents and tool calling</a:t>
            </a:r>
            <a:endParaRPr lang="en-GB" sz="1600" noProof="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</a:rPr>
              <a:t>Founding Research Scientist at Convergence AI, leading the research team (Acquired by Salesforce in 2025)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54C005-9143-0630-5D1A-E332B7F19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758" y="1962912"/>
            <a:ext cx="1398239" cy="1398239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EE1CFA2-434E-583B-930A-12D3A8F90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61" y="1076907"/>
            <a:ext cx="779987" cy="77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9C872459-1A88-C8E3-56FD-A1686BE37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3163" y="1093330"/>
            <a:ext cx="823914" cy="77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CC568269-0765-89B2-6C8B-196A930A4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155" y="2862886"/>
            <a:ext cx="823914" cy="77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4CDCF84-5ADC-2DD0-42E7-3DED3E471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4380" y="1875440"/>
            <a:ext cx="1531465" cy="45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uppieren 7">
            <a:extLst>
              <a:ext uri="{FF2B5EF4-FFF2-40B4-BE49-F238E27FC236}">
                <a16:creationId xmlns:a16="http://schemas.microsoft.com/office/drawing/2014/main" id="{2066874E-7CDC-564D-7751-905C63CC948F}"/>
              </a:ext>
            </a:extLst>
          </p:cNvPr>
          <p:cNvGrpSpPr/>
          <p:nvPr/>
        </p:nvGrpSpPr>
        <p:grpSpPr>
          <a:xfrm>
            <a:off x="1494192" y="3496849"/>
            <a:ext cx="2791531" cy="2377725"/>
            <a:chOff x="1494192" y="3496849"/>
            <a:chExt cx="2791531" cy="2377725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68EB3A69-4513-9ABF-59FC-1E5105536A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/>
            <a:srcRect t="14490" b="14490"/>
            <a:stretch/>
          </p:blipFill>
          <p:spPr bwMode="auto">
            <a:xfrm>
              <a:off x="1696757" y="3496849"/>
              <a:ext cx="1325563" cy="1325563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feld 5">
              <a:extLst>
                <a:ext uri="{FF2B5EF4-FFF2-40B4-BE49-F238E27FC236}">
                  <a16:creationId xmlns:a16="http://schemas.microsoft.com/office/drawing/2014/main" id="{10D0AAF6-1F70-F640-646C-E88538F1D69E}"/>
                </a:ext>
              </a:extLst>
            </p:cNvPr>
            <p:cNvSpPr txBox="1"/>
            <p:nvPr/>
          </p:nvSpPr>
          <p:spPr>
            <a:xfrm>
              <a:off x="1494192" y="5474464"/>
              <a:ext cx="2791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GB" sz="2000" noProof="0">
                <a:solidFill>
                  <a:srgbClr val="E8E8E8"/>
                </a:solidFill>
              </a:endParaRPr>
            </a:p>
          </p:txBody>
        </p:sp>
      </p:grpSp>
      <p:grpSp>
        <p:nvGrpSpPr>
          <p:cNvPr id="11" name="Gruppieren 7">
            <a:extLst>
              <a:ext uri="{FF2B5EF4-FFF2-40B4-BE49-F238E27FC236}">
                <a16:creationId xmlns:a16="http://schemas.microsoft.com/office/drawing/2014/main" id="{6A2DC511-676B-6BDB-C7F8-269217D52652}"/>
              </a:ext>
            </a:extLst>
          </p:cNvPr>
          <p:cNvGrpSpPr/>
          <p:nvPr/>
        </p:nvGrpSpPr>
        <p:grpSpPr>
          <a:xfrm>
            <a:off x="1494192" y="5042678"/>
            <a:ext cx="2791531" cy="1325564"/>
            <a:chOff x="1494192" y="5042678"/>
            <a:chExt cx="2791531" cy="1325564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CF72BA6D-8DAA-D20D-263D-95AF2D9DCA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/>
            <a:srcRect/>
            <a:stretch/>
          </p:blipFill>
          <p:spPr bwMode="auto">
            <a:xfrm>
              <a:off x="1696756" y="5042678"/>
              <a:ext cx="1325564" cy="1325564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feld 5">
              <a:extLst>
                <a:ext uri="{FF2B5EF4-FFF2-40B4-BE49-F238E27FC236}">
                  <a16:creationId xmlns:a16="http://schemas.microsoft.com/office/drawing/2014/main" id="{051AA695-793A-B208-1196-FFD2C7F6CB9E}"/>
                </a:ext>
              </a:extLst>
            </p:cNvPr>
            <p:cNvSpPr txBox="1"/>
            <p:nvPr/>
          </p:nvSpPr>
          <p:spPr>
            <a:xfrm>
              <a:off x="1494192" y="5474464"/>
              <a:ext cx="2791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GB" sz="2000" noProof="0">
                <a:solidFill>
                  <a:srgbClr val="E8E8E8"/>
                </a:solidFill>
              </a:endParaRPr>
            </a:p>
          </p:txBody>
        </p:sp>
      </p:grpSp>
      <p:sp>
        <p:nvSpPr>
          <p:cNvPr id="15" name="Textfeld 4">
            <a:extLst>
              <a:ext uri="{FF2B5EF4-FFF2-40B4-BE49-F238E27FC236}">
                <a16:creationId xmlns:a16="http://schemas.microsoft.com/office/drawing/2014/main" id="{F6B5B88A-5228-F28B-0E29-3E75D18DAB70}"/>
              </a:ext>
            </a:extLst>
          </p:cNvPr>
          <p:cNvSpPr txBox="1"/>
          <p:nvPr/>
        </p:nvSpPr>
        <p:spPr>
          <a:xfrm>
            <a:off x="3940090" y="5378601"/>
            <a:ext cx="6626384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b="1">
                <a:solidFill>
                  <a:schemeClr val="bg1"/>
                </a:solidFill>
              </a:rPr>
              <a:t>Founding technical 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solidFill>
                  <a:schemeClr val="bg1"/>
                </a:solidFill>
              </a:rPr>
              <a:t>Experienced SWE building data platforms on AWS and GCP across BMW Group and BMW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solidFill>
                  <a:schemeClr val="bg1"/>
                </a:solidFill>
              </a:rPr>
              <a:t>Cloud deployment of custom RAG agents at BMW</a:t>
            </a:r>
          </a:p>
        </p:txBody>
      </p:sp>
      <p:sp>
        <p:nvSpPr>
          <p:cNvPr id="17" name="Textfeld 4">
            <a:extLst>
              <a:ext uri="{FF2B5EF4-FFF2-40B4-BE49-F238E27FC236}">
                <a16:creationId xmlns:a16="http://schemas.microsoft.com/office/drawing/2014/main" id="{2154C492-4846-75E0-0707-AF7E208A94AC}"/>
              </a:ext>
            </a:extLst>
          </p:cNvPr>
          <p:cNvSpPr txBox="1"/>
          <p:nvPr/>
        </p:nvSpPr>
        <p:spPr>
          <a:xfrm>
            <a:off x="3909076" y="3646816"/>
            <a:ext cx="662638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b="1">
                <a:solidFill>
                  <a:schemeClr val="bg1"/>
                </a:solidFill>
              </a:rPr>
              <a:t>Founder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solidFill>
                  <a:schemeClr val="bg1"/>
                </a:solidFill>
              </a:rPr>
              <a:t>Design and implementation of a $2.6B national-scale crisis management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solidFill>
                  <a:schemeClr val="bg1"/>
                </a:solidFill>
              </a:rPr>
              <a:t>Complex coordination and high-stakes decision-making across disciplines, sectors and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solidFill>
                  <a:schemeClr val="bg1"/>
                </a:solidFill>
              </a:rPr>
              <a:t>Generative AI in Public Health/Medicine/Climate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EFB13C5-7D9F-E99D-60C7-F5634EE2E0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10728065" y="3816155"/>
            <a:ext cx="610743" cy="637348"/>
          </a:xfrm>
          <a:prstGeom prst="rect">
            <a:avLst/>
          </a:prstGeom>
        </p:spPr>
      </p:pic>
      <p:pic>
        <p:nvPicPr>
          <p:cNvPr id="21" name="Picture 20" descr="A close up of a blue jeans&#10;&#10;AI-generated content may be incorrect.">
            <a:extLst>
              <a:ext uri="{FF2B5EF4-FFF2-40B4-BE49-F238E27FC236}">
                <a16:creationId xmlns:a16="http://schemas.microsoft.com/office/drawing/2014/main" id="{2DC73EB5-6806-F543-19AB-6990FD4218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8779" y="5858515"/>
            <a:ext cx="635000" cy="635000"/>
          </a:xfrm>
          <a:prstGeom prst="rect">
            <a:avLst/>
          </a:prstGeom>
        </p:spPr>
      </p:pic>
      <p:pic>
        <p:nvPicPr>
          <p:cNvPr id="23" name="Picture 22" descr="A close up of a logo&#10;&#10;AI-generated content may be incorrect.">
            <a:extLst>
              <a:ext uri="{FF2B5EF4-FFF2-40B4-BE49-F238E27FC236}">
                <a16:creationId xmlns:a16="http://schemas.microsoft.com/office/drawing/2014/main" id="{66ED34CB-4C23-1279-5D57-252EB29CC5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8779" y="5223515"/>
            <a:ext cx="635000" cy="635000"/>
          </a:xfrm>
          <a:prstGeom prst="rect">
            <a:avLst/>
          </a:prstGeom>
        </p:spPr>
      </p:pic>
      <p:pic>
        <p:nvPicPr>
          <p:cNvPr id="24" name="Picture 2" descr="LSHTM logo">
            <a:extLst>
              <a:ext uri="{FF2B5EF4-FFF2-40B4-BE49-F238E27FC236}">
                <a16:creationId xmlns:a16="http://schemas.microsoft.com/office/drawing/2014/main" id="{2D4A7F21-1334-C27C-65C8-A8D56194C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7322" y="4438923"/>
            <a:ext cx="889867" cy="427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E3A459EC-7781-0F07-59C8-7294808F6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637" y="5223515"/>
            <a:ext cx="657208" cy="65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130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48C-E3C2-29D9-71F1-F0B78ED6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8262FC5-113B-A886-3F24-A2B1A460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544CD2-223C-C816-45D4-09A8E9F3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207606"/>
            <a:ext cx="11473654" cy="1325563"/>
          </a:xfrm>
        </p:spPr>
        <p:txBody>
          <a:bodyPr>
            <a:normAutofit/>
          </a:bodyPr>
          <a:lstStyle/>
          <a:p>
            <a:r>
              <a:rPr lang="en-GB" b="0" dirty="0">
                <a:latin typeface="Aptos SemiBold"/>
              </a:rPr>
              <a:t>Status</a:t>
            </a:r>
            <a:endParaRPr lang="en-US" dirty="0">
              <a:latin typeface="Aptos SemiBold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768E08-65EF-0A43-EB61-2AA989009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Traction</a:t>
            </a:r>
            <a:endParaRPr lang="en-GB" noProof="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6712C72-24C4-61AB-B879-C38DB452CFD6}"/>
              </a:ext>
            </a:extLst>
          </p:cNvPr>
          <p:cNvSpPr txBox="1"/>
          <p:nvPr/>
        </p:nvSpPr>
        <p:spPr>
          <a:xfrm>
            <a:off x="1575080" y="1533169"/>
            <a:ext cx="8923070" cy="55399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dirty="0">
                <a:solidFill>
                  <a:srgbClr val="E8E8E8"/>
                </a:solidFill>
              </a:rPr>
              <a:t>Q4 2025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200" dirty="0">
                <a:solidFill>
                  <a:srgbClr val="E8E8E8"/>
                </a:solidFill>
              </a:rPr>
              <a:t>Scientific validation: </a:t>
            </a:r>
            <a:r>
              <a:rPr lang="en-GB" sz="2200" dirty="0" err="1">
                <a:solidFill>
                  <a:srgbClr val="E8E8E8"/>
                </a:solidFill>
              </a:rPr>
              <a:t>Neurips</a:t>
            </a:r>
            <a:r>
              <a:rPr lang="en-GB" sz="2200" dirty="0">
                <a:solidFill>
                  <a:srgbClr val="E8E8E8"/>
                </a:solidFill>
              </a:rPr>
              <a:t> workshop paper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200" dirty="0">
                <a:solidFill>
                  <a:srgbClr val="E8E8E8"/>
                </a:solidFill>
              </a:rPr>
              <a:t>DE C-Corp incorporation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200" dirty="0">
                <a:solidFill>
                  <a:srgbClr val="E8E8E8"/>
                </a:solidFill>
              </a:rPr>
              <a:t>1</a:t>
            </a:r>
            <a:r>
              <a:rPr lang="en-GB" sz="2200" baseline="30000" dirty="0">
                <a:solidFill>
                  <a:srgbClr val="E8E8E8"/>
                </a:solidFill>
              </a:rPr>
              <a:t>st</a:t>
            </a:r>
            <a:r>
              <a:rPr lang="en-GB" sz="2200" dirty="0">
                <a:solidFill>
                  <a:srgbClr val="E8E8E8"/>
                </a:solidFill>
              </a:rPr>
              <a:t> paid partnership secured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200" dirty="0">
                <a:solidFill>
                  <a:srgbClr val="E8E8E8"/>
                </a:solidFill>
              </a:rPr>
              <a:t>R&amp;D with a first customer and international researchers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200" dirty="0">
                <a:solidFill>
                  <a:srgbClr val="E8E8E8"/>
                </a:solidFill>
              </a:rPr>
              <a:t>Trained proprietary 1.5B/3B parameter models for tool orchestration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200" dirty="0">
                <a:solidFill>
                  <a:srgbClr val="E8E8E8"/>
                </a:solidFill>
              </a:rPr>
              <a:t>Early discussions and building relationships for design partnerships with multinational companies</a:t>
            </a:r>
          </a:p>
          <a:p>
            <a:endParaRPr lang="en-GB" sz="2200" dirty="0">
              <a:solidFill>
                <a:srgbClr val="E8E8E8"/>
              </a:solidFill>
            </a:endParaRPr>
          </a:p>
          <a:p>
            <a:r>
              <a:rPr lang="en-GB" sz="2200" dirty="0">
                <a:solidFill>
                  <a:srgbClr val="E8E8E8"/>
                </a:solidFill>
              </a:rPr>
              <a:t>Q1 2026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200" dirty="0">
                <a:solidFill>
                  <a:srgbClr val="E8E8E8"/>
                </a:solidFill>
              </a:rPr>
              <a:t>Two ICML submissions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200" dirty="0">
                <a:solidFill>
                  <a:srgbClr val="E8E8E8"/>
                </a:solidFill>
              </a:rPr>
              <a:t>Swiss headquarter: Incorporation of Swiss GmbH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200" dirty="0">
                <a:solidFill>
                  <a:srgbClr val="E8E8E8"/>
                </a:solidFill>
              </a:rPr>
              <a:t>First revenue-based projects finished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200" dirty="0">
                <a:solidFill>
                  <a:srgbClr val="E8E8E8"/>
                </a:solidFill>
              </a:rPr>
              <a:t>RL Post-Trained Medical Model with German University Hospital (+30% improvement over o4-mini on clinical benchmarks)</a:t>
            </a:r>
          </a:p>
          <a:p>
            <a:pPr marL="342900" indent="-342900">
              <a:buFont typeface="Wingdings" pitchFamily="2" charset="2"/>
              <a:buChar char="ü"/>
            </a:pPr>
            <a:endParaRPr lang="en-GB" sz="2200" dirty="0">
              <a:solidFill>
                <a:srgbClr val="E8E8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461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65DBD-D2E0-1CC8-D98F-69952639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2AB938-2B87-8ADD-DEF3-0C9127F1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DFEC436-08DD-4731-5129-FE6E1D0D35F3}"/>
              </a:ext>
            </a:extLst>
          </p:cNvPr>
          <p:cNvSpPr txBox="1"/>
          <p:nvPr/>
        </p:nvSpPr>
        <p:spPr>
          <a:xfrm>
            <a:off x="2879236" y="2901516"/>
            <a:ext cx="6572073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600" i="1" dirty="0">
                <a:solidFill>
                  <a:schemeClr val="bg1"/>
                </a:solidFill>
              </a:rPr>
              <a:t>we enable agents</a:t>
            </a:r>
          </a:p>
          <a:p>
            <a:pPr algn="ctr"/>
            <a:r>
              <a:rPr lang="en-GB" sz="2600" i="1" dirty="0">
                <a:solidFill>
                  <a:schemeClr val="bg1"/>
                </a:solidFill>
              </a:rPr>
              <a:t>to learn from experience</a:t>
            </a:r>
            <a:r>
              <a:rPr lang="en-GB" sz="2600" dirty="0">
                <a:solidFill>
                  <a:schemeClr val="bg1"/>
                </a:solidFill>
              </a:rPr>
              <a:t>​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E9C1E1-1633-DEC8-DD93-879D4622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71411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1F304-BCAC-C0DB-9677-2597148B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5F6DD-1D95-3385-7D33-66138ABD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pPr/>
              <a:t>5</a:t>
            </a:fld>
            <a:endParaRPr lang="de-C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BBF9E7-1E76-02B6-9A2C-292877D1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ptos SemiBold"/>
              </a:rPr>
              <a:t>AI Agent Challenges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18C59-1026-C33E-790D-9F308431A38E}"/>
              </a:ext>
            </a:extLst>
          </p:cNvPr>
          <p:cNvSpPr txBox="1"/>
          <p:nvPr/>
        </p:nvSpPr>
        <p:spPr>
          <a:xfrm>
            <a:off x="1240174" y="2363491"/>
            <a:ext cx="9659474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>
                <a:solidFill>
                  <a:schemeClr val="bg1"/>
                </a:solidFill>
              </a:rPr>
              <a:t>“AI hits a wall” before becoming productive</a:t>
            </a:r>
            <a:endParaRPr lang="en-GB" sz="3200" noProof="0">
              <a:solidFill>
                <a:schemeClr val="bg1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200" noProof="0">
                <a:solidFill>
                  <a:schemeClr val="bg1"/>
                </a:solidFill>
              </a:rPr>
              <a:t>Unreliable &amp; insufficient performance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200">
                <a:solidFill>
                  <a:schemeClr val="bg1"/>
                </a:solidFill>
              </a:rPr>
              <a:t>Handling sensitive data</a:t>
            </a:r>
            <a:endParaRPr lang="en-GB" sz="3200" noProof="0">
              <a:solidFill>
                <a:schemeClr val="bg1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200" noProof="0">
                <a:solidFill>
                  <a:schemeClr val="bg1"/>
                </a:solidFill>
              </a:rPr>
              <a:t>Rising model costs</a:t>
            </a:r>
          </a:p>
          <a:p>
            <a:endParaRPr lang="en-GB" sz="32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97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52FC-F8CA-A419-EAC6-D7634466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F93D-5C48-9193-18D7-33B77D08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Aptos SemiBold"/>
              </a:rPr>
              <a:t>We create measurable value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9CE62E1-2195-38C2-1D65-58A7B0DB6F32}"/>
              </a:ext>
            </a:extLst>
          </p:cNvPr>
          <p:cNvSpPr/>
          <p:nvPr/>
        </p:nvSpPr>
        <p:spPr>
          <a:xfrm>
            <a:off x="4651874" y="2620651"/>
            <a:ext cx="3200000" cy="3600000"/>
          </a:xfrm>
          <a:prstGeom prst="roundRect">
            <a:avLst/>
          </a:prstGeom>
          <a:solidFill>
            <a:srgbClr val="222222"/>
          </a:solidFill>
          <a:ln w="19050">
            <a:solidFill>
              <a:srgbClr val="6AA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3059C-2022-330D-5F48-648E081CA1E2}"/>
              </a:ext>
            </a:extLst>
          </p:cNvPr>
          <p:cNvSpPr txBox="1"/>
          <p:nvPr/>
        </p:nvSpPr>
        <p:spPr>
          <a:xfrm>
            <a:off x="4751874" y="3420651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SemiBold"/>
              </a:rPr>
              <a:t>Reduce Cost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559262-7822-8058-208C-791DEDD3FB28}"/>
              </a:ext>
            </a:extLst>
          </p:cNvPr>
          <p:cNvSpPr txBox="1"/>
          <p:nvPr/>
        </p:nvSpPr>
        <p:spPr>
          <a:xfrm>
            <a:off x="4751874" y="3820651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  <a:latin typeface="Aptos Light"/>
              </a:rPr>
              <a:t>Routing + small models</a:t>
            </a:r>
          </a:p>
        </p:txBody>
      </p:sp>
      <p:cxnSp>
        <p:nvCxnSpPr>
          <p:cNvPr id="311" name="Line 311">
            <a:extLst>
              <a:ext uri="{FF2B5EF4-FFF2-40B4-BE49-F238E27FC236}">
                <a16:creationId xmlns:a16="http://schemas.microsoft.com/office/drawing/2014/main" id="{8F8502CC-9E23-E944-4910-BCA353954AD2}"/>
              </a:ext>
            </a:extLst>
          </p:cNvPr>
          <p:cNvCxnSpPr/>
          <p:nvPr/>
        </p:nvCxnSpPr>
        <p:spPr>
          <a:xfrm>
            <a:off x="4851874" y="4220651"/>
            <a:ext cx="2800000" cy="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312" name="TextBox 311">
            <a:extLst>
              <a:ext uri="{FF2B5EF4-FFF2-40B4-BE49-F238E27FC236}">
                <a16:creationId xmlns:a16="http://schemas.microsoft.com/office/drawing/2014/main" id="{A53E7DCF-DE18-6A40-5395-EA598450B49C}"/>
              </a:ext>
            </a:extLst>
          </p:cNvPr>
          <p:cNvSpPr txBox="1"/>
          <p:nvPr/>
        </p:nvSpPr>
        <p:spPr>
          <a:xfrm>
            <a:off x="4851874" y="4320651"/>
            <a:ext cx="2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  <a:latin typeface="Aptos Light"/>
              </a:rPr>
              <a:t>• Lower cost per request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  <a:latin typeface="Aptos Light"/>
              </a:rPr>
              <a:t>• Lower latency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  <a:latin typeface="Aptos Light"/>
              </a:rPr>
              <a:t>• Scalable usage</a:t>
            </a:r>
          </a:p>
        </p:txBody>
      </p:sp>
      <p:sp>
        <p:nvSpPr>
          <p:cNvPr id="313" name="Rounded Rectangle 312">
            <a:extLst>
              <a:ext uri="{FF2B5EF4-FFF2-40B4-BE49-F238E27FC236}">
                <a16:creationId xmlns:a16="http://schemas.microsoft.com/office/drawing/2014/main" id="{9D8A44F6-39C4-72E3-B832-6E1268205BB7}"/>
              </a:ext>
            </a:extLst>
          </p:cNvPr>
          <p:cNvSpPr/>
          <p:nvPr/>
        </p:nvSpPr>
        <p:spPr>
          <a:xfrm>
            <a:off x="8231436" y="2620651"/>
            <a:ext cx="3200000" cy="3600000"/>
          </a:xfrm>
          <a:prstGeom prst="roundRect">
            <a:avLst/>
          </a:prstGeom>
          <a:solidFill>
            <a:srgbClr val="222222"/>
          </a:solidFill>
          <a:ln w="19050">
            <a:solidFill>
              <a:srgbClr val="5C8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1ED3456C-E727-F802-C6D4-776179F1A246}"/>
              </a:ext>
            </a:extLst>
          </p:cNvPr>
          <p:cNvSpPr txBox="1"/>
          <p:nvPr/>
        </p:nvSpPr>
        <p:spPr>
          <a:xfrm>
            <a:off x="8331436" y="3420651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SemiBold"/>
              </a:rPr>
              <a:t>Enable Privacy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9AE71E6E-EBEC-134D-CF77-89D47AC97768}"/>
              </a:ext>
            </a:extLst>
          </p:cNvPr>
          <p:cNvSpPr txBox="1"/>
          <p:nvPr/>
        </p:nvSpPr>
        <p:spPr>
          <a:xfrm>
            <a:off x="8331436" y="3820651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  <a:latin typeface="Aptos Light"/>
              </a:rPr>
              <a:t>Knowledge transfer + local deployment</a:t>
            </a:r>
          </a:p>
        </p:txBody>
      </p:sp>
      <p:cxnSp>
        <p:nvCxnSpPr>
          <p:cNvPr id="317" name="Line 317">
            <a:extLst>
              <a:ext uri="{FF2B5EF4-FFF2-40B4-BE49-F238E27FC236}">
                <a16:creationId xmlns:a16="http://schemas.microsoft.com/office/drawing/2014/main" id="{8359FD0C-97A8-AED1-EFC6-82764A35112B}"/>
              </a:ext>
            </a:extLst>
          </p:cNvPr>
          <p:cNvCxnSpPr/>
          <p:nvPr/>
        </p:nvCxnSpPr>
        <p:spPr>
          <a:xfrm>
            <a:off x="8431436" y="4220651"/>
            <a:ext cx="2800000" cy="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E6E68540-5DD3-3C6A-2EC9-C1FF267590C2}"/>
              </a:ext>
            </a:extLst>
          </p:cNvPr>
          <p:cNvSpPr txBox="1"/>
          <p:nvPr/>
        </p:nvSpPr>
        <p:spPr>
          <a:xfrm>
            <a:off x="8431436" y="4320651"/>
            <a:ext cx="2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  <a:latin typeface="Aptos Light"/>
              </a:rPr>
              <a:t>• Data never leaves your organisation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  <a:latin typeface="Aptos Light"/>
              </a:rPr>
              <a:t>• Vendor independence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  <a:latin typeface="Aptos Light"/>
              </a:rPr>
              <a:t>• Regulatory compliance</a:t>
            </a:r>
          </a:p>
        </p:txBody>
      </p:sp>
      <p:sp>
        <p:nvSpPr>
          <p:cNvPr id="319" name="Rounded Rectangle 318">
            <a:extLst>
              <a:ext uri="{FF2B5EF4-FFF2-40B4-BE49-F238E27FC236}">
                <a16:creationId xmlns:a16="http://schemas.microsoft.com/office/drawing/2014/main" id="{81FECC52-30F5-7B7D-A0DA-A5FD6E350997}"/>
              </a:ext>
            </a:extLst>
          </p:cNvPr>
          <p:cNvSpPr/>
          <p:nvPr/>
        </p:nvSpPr>
        <p:spPr>
          <a:xfrm>
            <a:off x="1086272" y="2590261"/>
            <a:ext cx="3200000" cy="3600000"/>
          </a:xfrm>
          <a:prstGeom prst="roundRect">
            <a:avLst/>
          </a:prstGeom>
          <a:solidFill>
            <a:srgbClr val="222222"/>
          </a:solidFill>
          <a:ln w="19050">
            <a:solidFill>
              <a:srgbClr val="D69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721BF118-71F5-F3B6-A6E8-675A0DF4F43C}"/>
              </a:ext>
            </a:extLst>
          </p:cNvPr>
          <p:cNvSpPr txBox="1"/>
          <p:nvPr/>
        </p:nvSpPr>
        <p:spPr>
          <a:xfrm>
            <a:off x="1186272" y="3390261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ptos SemiBold"/>
              </a:rPr>
              <a:t>Improve Performance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642B0CC5-43C1-C75C-4967-1EC6EFCA2148}"/>
              </a:ext>
            </a:extLst>
          </p:cNvPr>
          <p:cNvSpPr txBox="1"/>
          <p:nvPr/>
        </p:nvSpPr>
        <p:spPr>
          <a:xfrm>
            <a:off x="1186272" y="3725563"/>
            <a:ext cx="30000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1300" i="1" dirty="0">
                <a:solidFill>
                  <a:srgbClr val="AAAAAA"/>
                </a:solidFill>
                <a:latin typeface="Aptos Light"/>
              </a:rPr>
              <a:t>Reinforcement Learning (environments) / In-Context-Learning (usage traces)</a:t>
            </a:r>
            <a:endParaRPr lang="en-US" sz="1300" b="0" i="1" dirty="0">
              <a:solidFill>
                <a:srgbClr val="AAAAAA"/>
              </a:solidFill>
              <a:latin typeface="Aptos Light"/>
            </a:endParaRPr>
          </a:p>
        </p:txBody>
      </p:sp>
      <p:cxnSp>
        <p:nvCxnSpPr>
          <p:cNvPr id="323" name="Line 323">
            <a:extLst>
              <a:ext uri="{FF2B5EF4-FFF2-40B4-BE49-F238E27FC236}">
                <a16:creationId xmlns:a16="http://schemas.microsoft.com/office/drawing/2014/main" id="{271F520D-866A-6E00-B09C-96ACEF5E9741}"/>
              </a:ext>
            </a:extLst>
          </p:cNvPr>
          <p:cNvCxnSpPr/>
          <p:nvPr/>
        </p:nvCxnSpPr>
        <p:spPr>
          <a:xfrm>
            <a:off x="1286272" y="4190261"/>
            <a:ext cx="2800000" cy="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7E91D803-76B9-26A7-1673-E198A875C7E1}"/>
              </a:ext>
            </a:extLst>
          </p:cNvPr>
          <p:cNvSpPr txBox="1"/>
          <p:nvPr/>
        </p:nvSpPr>
        <p:spPr>
          <a:xfrm>
            <a:off x="1286272" y="4290261"/>
            <a:ext cx="2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  <a:latin typeface="Aptos Light"/>
              </a:rPr>
              <a:t>• Higher success rate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  <a:latin typeface="Aptos Light"/>
              </a:rPr>
              <a:t>• Fewer human escalations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  <a:latin typeface="Aptos Light"/>
              </a:rPr>
              <a:t>• Better decision quality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26CE1-8868-D386-2410-D0FB3DC06FA8}"/>
              </a:ext>
            </a:extLst>
          </p:cNvPr>
          <p:cNvSpPr txBox="1"/>
          <p:nvPr/>
        </p:nvSpPr>
        <p:spPr>
          <a:xfrm>
            <a:off x="5360310" y="4304465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asd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355C23-9DD9-F795-6E2C-F6730A6E43CD}"/>
              </a:ext>
            </a:extLst>
          </p:cNvPr>
          <p:cNvCxnSpPr>
            <a:cxnSpLocks/>
          </p:cNvCxnSpPr>
          <p:nvPr/>
        </p:nvCxnSpPr>
        <p:spPr>
          <a:xfrm flipV="1">
            <a:off x="2603597" y="2868844"/>
            <a:ext cx="0" cy="411828"/>
          </a:xfrm>
          <a:prstGeom prst="straightConnector1">
            <a:avLst/>
          </a:prstGeom>
          <a:ln w="50800">
            <a:solidFill>
              <a:srgbClr val="CB80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E23644E-08B9-628D-80C9-6CC206C5846C}"/>
              </a:ext>
            </a:extLst>
          </p:cNvPr>
          <p:cNvCxnSpPr>
            <a:cxnSpLocks/>
          </p:cNvCxnSpPr>
          <p:nvPr/>
        </p:nvCxnSpPr>
        <p:spPr>
          <a:xfrm>
            <a:off x="6241124" y="2860946"/>
            <a:ext cx="0" cy="399704"/>
          </a:xfrm>
          <a:prstGeom prst="straightConnector1">
            <a:avLst/>
          </a:prstGeom>
          <a:ln w="5080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Lock with solid fill">
            <a:extLst>
              <a:ext uri="{FF2B5EF4-FFF2-40B4-BE49-F238E27FC236}">
                <a16:creationId xmlns:a16="http://schemas.microsoft.com/office/drawing/2014/main" id="{E3E10285-C1A8-7D21-B16B-24801D154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6522" y="2788847"/>
            <a:ext cx="558377" cy="55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4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64A8E-ABDD-3748-702F-D4183BEA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656671-5A96-3E04-FE94-7FBCFD9E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pPr/>
              <a:t>7</a:t>
            </a:fld>
            <a:endParaRPr lang="de-C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737AEF-59BA-676A-56E2-4FAD0713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The Learning Flywheel</a:t>
            </a:r>
            <a:br>
              <a:rPr lang="en-CH" dirty="0"/>
            </a:br>
            <a:r>
              <a:rPr lang="en-CH" sz="2600" b="0" i="1" dirty="0"/>
              <a:t>Learning as a Service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CC992B-38F4-6CFC-C760-6A2D7E458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8344DA-987D-FBDC-8672-FA2120720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173" y="2083442"/>
            <a:ext cx="11238279" cy="398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2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07266-402B-879C-7C3F-EEDC94BD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082F15-BFFD-2119-67A8-3CECECCF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pPr/>
              <a:t>8</a:t>
            </a:fld>
            <a:endParaRPr lang="de-C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69BEB1-BD46-94C9-F56A-6C22E97B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Learning Agents</a:t>
            </a:r>
            <a:endParaRPr lang="en-CH" sz="2600" b="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CC10F-C41A-B2DE-DCDC-B4842EDFD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BB4250F-8DA1-25DE-351A-70C198089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2447" y="2077936"/>
            <a:ext cx="6630616" cy="427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52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3B13-0536-289E-93E7-4777CFD2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CECC0-ECBF-6420-EB67-BE9556EC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de-CH" smtClean="0"/>
              <a:pPr/>
              <a:t>9</a:t>
            </a:fld>
            <a:endParaRPr lang="de-C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B6ABC1-559D-903D-03AA-A2A4CEEEF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SemiBold"/>
              </a:rPr>
              <a:t>A Case Study with a large German University Hospital (Post-training as Service)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C3B1A-D913-EBF1-31BE-7494649C30B0}"/>
              </a:ext>
            </a:extLst>
          </p:cNvPr>
          <p:cNvSpPr txBox="1"/>
          <p:nvPr/>
        </p:nvSpPr>
        <p:spPr>
          <a:xfrm>
            <a:off x="1454061" y="1962912"/>
            <a:ext cx="8939606" cy="5314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GB" dirty="0">
                <a:solidFill>
                  <a:srgbClr val="E8E8E8"/>
                </a:solidFill>
                <a:latin typeface="Aptos" panose="020B0004020202020204" pitchFamily="34" charset="0"/>
              </a:rPr>
              <a:t>Important milestone towards a </a:t>
            </a:r>
            <a:r>
              <a:rPr lang="en-GB" b="1" dirty="0">
                <a:solidFill>
                  <a:srgbClr val="FFFFFF"/>
                </a:solidFill>
                <a:latin typeface="Aptos" panose="020B0004020202020204" pitchFamily="34" charset="0"/>
                <a:ea typeface="Segoe UI"/>
                <a:cs typeface="Segoe UI"/>
              </a:rPr>
              <a:t>universal optimization engine for AI agents</a:t>
            </a:r>
            <a:r>
              <a:rPr lang="en-GB" dirty="0">
                <a:solidFill>
                  <a:srgbClr val="FFFFFF"/>
                </a:solidFill>
                <a:latin typeface="Aptos" panose="020B0004020202020204" pitchFamily="34" charset="0"/>
                <a:ea typeface="Segoe UI"/>
                <a:cs typeface="Segoe UI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rgbClr val="E8E8E8"/>
                </a:solidFill>
                <a:latin typeface="Aptos" panose="020B0004020202020204" pitchFamily="34" charset="0"/>
              </a:rPr>
              <a:t>Successful demonstration with </a:t>
            </a:r>
            <a:r>
              <a:rPr lang="en-GB" b="1" dirty="0">
                <a:solidFill>
                  <a:srgbClr val="E8E8E8"/>
                </a:solidFill>
                <a:latin typeface="Aptos" panose="020B0004020202020204" pitchFamily="34" charset="0"/>
              </a:rPr>
              <a:t>generalisability to any complex demanding setting</a:t>
            </a:r>
          </a:p>
          <a:p>
            <a:pPr>
              <a:spcBef>
                <a:spcPts val="600"/>
              </a:spcBef>
            </a:pPr>
            <a:endParaRPr lang="en-GB" b="1" dirty="0">
              <a:solidFill>
                <a:srgbClr val="E8E8E8"/>
              </a:solidFill>
              <a:latin typeface="Aptos" panose="020B00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rgbClr val="E8E8E8"/>
                </a:solidFill>
                <a:latin typeface="Aptos" panose="020B0004020202020204" pitchFamily="34" charset="0"/>
              </a:rPr>
              <a:t>Performance drives ROI: </a:t>
            </a:r>
            <a:r>
              <a:rPr lang="en-GB" dirty="0">
                <a:solidFill>
                  <a:srgbClr val="FFFFFF"/>
                </a:solidFill>
                <a:latin typeface="Aptos" panose="020B0004020202020204" pitchFamily="34" charset="0"/>
                <a:cs typeface="Segoe UI"/>
              </a:rPr>
              <a:t>P</a:t>
            </a:r>
            <a:r>
              <a:rPr lang="en-GB" dirty="0">
                <a:solidFill>
                  <a:srgbClr val="FFFFFF"/>
                </a:solidFill>
                <a:latin typeface="Aptos" panose="020B0004020202020204" pitchFamily="34" charset="0"/>
                <a:ea typeface="Segoe UI"/>
                <a:cs typeface="Segoe UI"/>
              </a:rPr>
              <a:t>otential to save 5-15 full time equivalents in medium to large sized hospitals (&gt;1 Mio Euro)* with </a:t>
            </a:r>
            <a:r>
              <a:rPr lang="en-GB" dirty="0">
                <a:solidFill>
                  <a:srgbClr val="E8E8E8"/>
                </a:solidFill>
                <a:latin typeface="Aptos" panose="020B0004020202020204" pitchFamily="34" charset="0"/>
              </a:rPr>
              <a:t>+30% improvement over </a:t>
            </a:r>
            <a:r>
              <a:rPr lang="en-GB" i="1" dirty="0">
                <a:solidFill>
                  <a:srgbClr val="E8E8E8"/>
                </a:solidFill>
                <a:latin typeface="Aptos" panose="020B0004020202020204" pitchFamily="34" charset="0"/>
              </a:rPr>
              <a:t>o4-mini</a:t>
            </a:r>
            <a:r>
              <a:rPr lang="en-GB" dirty="0">
                <a:solidFill>
                  <a:srgbClr val="E8E8E8"/>
                </a:solidFill>
                <a:latin typeface="Aptos" panose="020B0004020202020204" pitchFamily="34" charset="0"/>
              </a:rPr>
              <a:t> (generalised Frontier Model) on clinical benchmarks</a:t>
            </a:r>
            <a:r>
              <a:rPr lang="en-GB" dirty="0">
                <a:solidFill>
                  <a:srgbClr val="FFFFFF"/>
                </a:solidFill>
                <a:latin typeface="Aptos" panose="020B0004020202020204" pitchFamily="34" charset="0"/>
                <a:ea typeface="Segoe UI"/>
                <a:cs typeface="Segoe UI"/>
              </a:rPr>
              <a:t> </a:t>
            </a: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  <a:ea typeface="Segoe UI"/>
                <a:cs typeface="Segoe UI"/>
              </a:rPr>
              <a:t>​</a:t>
            </a:r>
          </a:p>
          <a:p>
            <a:pPr>
              <a:spcBef>
                <a:spcPts val="600"/>
              </a:spcBef>
            </a:pPr>
            <a:endParaRPr lang="en-GB" dirty="0">
              <a:solidFill>
                <a:srgbClr val="000000"/>
              </a:solidFill>
              <a:latin typeface="Aptos" panose="020B0004020202020204" pitchFamily="34" charset="0"/>
              <a:ea typeface="Segoe UI"/>
              <a:cs typeface="Segoe UI"/>
            </a:endParaRP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rgbClr val="FFFFFF"/>
                </a:solidFill>
                <a:latin typeface="Aptos" panose="020B0004020202020204" pitchFamily="34" charset="0"/>
                <a:ea typeface="Segoe UI"/>
                <a:cs typeface="Segoe UI"/>
              </a:rPr>
              <a:t>Cost: S</a:t>
            </a:r>
            <a:r>
              <a:rPr lang="en-GB" dirty="0">
                <a:solidFill>
                  <a:srgbClr val="FFFFFF"/>
                </a:solidFill>
                <a:latin typeface="Aptos" panose="020B0004020202020204" pitchFamily="34" charset="0"/>
                <a:ea typeface="Segoe UI"/>
                <a:cs typeface="Segoe UI"/>
              </a:rPr>
              <a:t>ubstantial reduction in inference costs</a:t>
            </a:r>
          </a:p>
          <a:p>
            <a:pPr>
              <a:spcBef>
                <a:spcPts val="600"/>
              </a:spcBef>
            </a:pPr>
            <a:endParaRPr lang="en-GB" dirty="0">
              <a:solidFill>
                <a:srgbClr val="FFFFFF"/>
              </a:solidFill>
              <a:latin typeface="Aptos" panose="020B0004020202020204" pitchFamily="34" charset="0"/>
              <a:ea typeface="Segoe UI"/>
              <a:cs typeface="Segoe UI"/>
            </a:endParaRP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rgbClr val="FFFFFF"/>
                </a:solidFill>
                <a:latin typeface="Aptos" panose="020B0004020202020204" pitchFamily="34" charset="0"/>
                <a:ea typeface="Segoe UI"/>
                <a:cs typeface="Segoe UI"/>
              </a:rPr>
              <a:t>Sovereignty: </a:t>
            </a:r>
            <a:r>
              <a:rPr lang="en-GB" dirty="0">
                <a:solidFill>
                  <a:srgbClr val="FFFFFF"/>
                </a:solidFill>
                <a:latin typeface="Aptos" panose="020B0004020202020204" pitchFamily="34" charset="0"/>
                <a:ea typeface="Segoe UI"/>
                <a:cs typeface="Segoe UI"/>
              </a:rPr>
              <a:t>Working in high-privacy setting 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endParaRPr lang="en-GB" dirty="0">
              <a:solidFill>
                <a:srgbClr val="FFFFFF"/>
              </a:solidFill>
              <a:latin typeface="Aptos" panose="020B0004020202020204" pitchFamily="34" charset="0"/>
              <a:ea typeface="Segoe UI"/>
              <a:cs typeface="Segoe UI"/>
            </a:endParaRPr>
          </a:p>
          <a:p>
            <a:pPr algn="l" rtl="0">
              <a:lnSpc>
                <a:spcPts val="4125"/>
              </a:lnSpc>
              <a:spcBef>
                <a:spcPts val="600"/>
              </a:spcBef>
            </a:pPr>
            <a:r>
              <a:rPr lang="en-GB" sz="1600" dirty="0">
                <a:solidFill>
                  <a:srgbClr val="FFFFFF"/>
                </a:solidFill>
                <a:latin typeface="Aptos" panose="020B0004020202020204" pitchFamily="34" charset="0"/>
                <a:ea typeface="Segoe UI"/>
                <a:cs typeface="Segoe UI"/>
              </a:rPr>
              <a:t>Detailed r</a:t>
            </a:r>
            <a:r>
              <a:rPr lang="en-GB" sz="1600" b="0" u="none" strike="noStrike" baseline="0" dirty="0">
                <a:solidFill>
                  <a:srgbClr val="FFFFFF"/>
                </a:solidFill>
                <a:latin typeface="Aptos" panose="020B0004020202020204" pitchFamily="34" charset="0"/>
                <a:ea typeface="Segoe UI"/>
                <a:cs typeface="Segoe UI"/>
              </a:rPr>
              <a:t>esults not publicly shareable yet. We are happy to share them on a 1:1 basis </a:t>
            </a:r>
          </a:p>
          <a:p>
            <a:pPr algn="l" rtl="0">
              <a:lnSpc>
                <a:spcPts val="4125"/>
              </a:lnSpc>
              <a:spcBef>
                <a:spcPts val="600"/>
              </a:spcBef>
            </a:pPr>
            <a:endParaRPr lang="en-GB" b="0" u="sng" strike="noStrike" baseline="0" dirty="0">
              <a:solidFill>
                <a:srgbClr val="FFFFFF"/>
              </a:solidFill>
              <a:latin typeface="Aptos" panose="020B0004020202020204" pitchFamily="34" charset="0"/>
              <a:ea typeface="Segoe UI"/>
              <a:cs typeface="Segoe UI"/>
            </a:endParaRPr>
          </a:p>
          <a:p>
            <a:pPr algn="ctr">
              <a:spcBef>
                <a:spcPts val="600"/>
              </a:spcBef>
            </a:pP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30115-BBCC-3C4B-D3C0-C859FDE67303}"/>
              </a:ext>
            </a:extLst>
          </p:cNvPr>
          <p:cNvSpPr txBox="1"/>
          <p:nvPr/>
        </p:nvSpPr>
        <p:spPr>
          <a:xfrm>
            <a:off x="9218176" y="6478091"/>
            <a:ext cx="18950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*u</a:t>
            </a:r>
            <a:r>
              <a:rPr lang="en-CH" sz="900" dirty="0">
                <a:solidFill>
                  <a:schemeClr val="bg1"/>
                </a:solidFill>
              </a:rPr>
              <a:t>nder conservative assumptions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3B4D3D-2262-2791-61A2-B5527807E1B1}"/>
              </a:ext>
            </a:extLst>
          </p:cNvPr>
          <p:cNvCxnSpPr>
            <a:cxnSpLocks/>
          </p:cNvCxnSpPr>
          <p:nvPr/>
        </p:nvCxnSpPr>
        <p:spPr>
          <a:xfrm flipV="1">
            <a:off x="1200098" y="3123498"/>
            <a:ext cx="0" cy="411828"/>
          </a:xfrm>
          <a:prstGeom prst="straightConnector1">
            <a:avLst/>
          </a:prstGeom>
          <a:ln w="50800">
            <a:solidFill>
              <a:srgbClr val="CB80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8E6E2D-6069-944D-5CE6-60856329D962}"/>
              </a:ext>
            </a:extLst>
          </p:cNvPr>
          <p:cNvCxnSpPr>
            <a:cxnSpLocks/>
          </p:cNvCxnSpPr>
          <p:nvPr/>
        </p:nvCxnSpPr>
        <p:spPr>
          <a:xfrm>
            <a:off x="1200096" y="4220345"/>
            <a:ext cx="0" cy="399704"/>
          </a:xfrm>
          <a:prstGeom prst="straightConnector1">
            <a:avLst/>
          </a:prstGeom>
          <a:ln w="50800">
            <a:solidFill>
              <a:srgbClr val="6AAD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Lock with solid fill">
            <a:extLst>
              <a:ext uri="{FF2B5EF4-FFF2-40B4-BE49-F238E27FC236}">
                <a16:creationId xmlns:a16="http://schemas.microsoft.com/office/drawing/2014/main" id="{9223D4BD-06DA-809E-B641-2256FCD6F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907" y="4864175"/>
            <a:ext cx="558377" cy="55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5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899E-6455-0566-7657-037704366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47FEA81-D08F-9FA7-08BD-83D33665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36D0DDE-1604-6FE3-0732-5CDB9960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latin typeface="Aptos SemiBold"/>
              </a:rPr>
              <a:t>From Pilot to Long-lasting Customer Relationship</a:t>
            </a:r>
            <a:endParaRPr lang="en-GB" b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439AAF-B173-82FA-D46C-63807ADEE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CUSTOMER JOURNEY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84D1189D-D957-18D3-2590-755F2C68F0AA}"/>
              </a:ext>
            </a:extLst>
          </p:cNvPr>
          <p:cNvGrpSpPr/>
          <p:nvPr/>
        </p:nvGrpSpPr>
        <p:grpSpPr>
          <a:xfrm>
            <a:off x="2253917" y="2361801"/>
            <a:ext cx="9318961" cy="664432"/>
            <a:chOff x="2236274" y="2361801"/>
            <a:chExt cx="8666187" cy="664432"/>
          </a:xfrm>
        </p:grpSpPr>
        <p:sp>
          <p:nvSpPr>
            <p:cNvPr id="51" name="Richtungspfeil 50">
              <a:extLst>
                <a:ext uri="{FF2B5EF4-FFF2-40B4-BE49-F238E27FC236}">
                  <a16:creationId xmlns:a16="http://schemas.microsoft.com/office/drawing/2014/main" id="{97D70401-5FBC-C7A1-D81A-6A3C77A961A3}"/>
                </a:ext>
              </a:extLst>
            </p:cNvPr>
            <p:cNvSpPr/>
            <p:nvPr/>
          </p:nvSpPr>
          <p:spPr>
            <a:xfrm rot="5400000">
              <a:off x="2772563" y="1825512"/>
              <a:ext cx="664432" cy="1737010"/>
            </a:xfrm>
            <a:prstGeom prst="homePlate">
              <a:avLst/>
            </a:prstGeom>
            <a:solidFill>
              <a:srgbClr val="E8E8E8"/>
            </a:solidFill>
            <a:ln>
              <a:solidFill>
                <a:srgbClr val="E8E8E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b="1" noProof="0">
                  <a:solidFill>
                    <a:srgbClr val="000000"/>
                  </a:solidFill>
                </a:rPr>
                <a:t>Identify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AA52B531-EADB-25F0-BE94-AE591B3FB4C6}"/>
                </a:ext>
              </a:extLst>
            </p:cNvPr>
            <p:cNvSpPr/>
            <p:nvPr/>
          </p:nvSpPr>
          <p:spPr>
            <a:xfrm>
              <a:off x="4405745" y="2361801"/>
              <a:ext cx="6496716" cy="32734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/>
                <a:t>Identify processes for agentic augmentation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/>
                <a:t>(KPI and stakeholder)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0BA4574A-FDD8-0AE3-3779-FE4CF94041E0}"/>
              </a:ext>
            </a:extLst>
          </p:cNvPr>
          <p:cNvGrpSpPr/>
          <p:nvPr/>
        </p:nvGrpSpPr>
        <p:grpSpPr>
          <a:xfrm>
            <a:off x="2253914" y="3293060"/>
            <a:ext cx="9318960" cy="664432"/>
            <a:chOff x="2236275" y="2361801"/>
            <a:chExt cx="8666186" cy="664432"/>
          </a:xfrm>
        </p:grpSpPr>
        <p:sp>
          <p:nvSpPr>
            <p:cNvPr id="61" name="Richtungspfeil 60">
              <a:extLst>
                <a:ext uri="{FF2B5EF4-FFF2-40B4-BE49-F238E27FC236}">
                  <a16:creationId xmlns:a16="http://schemas.microsoft.com/office/drawing/2014/main" id="{9363224C-8C76-AE25-4749-8A94FE31B28A}"/>
                </a:ext>
              </a:extLst>
            </p:cNvPr>
            <p:cNvSpPr/>
            <p:nvPr/>
          </p:nvSpPr>
          <p:spPr>
            <a:xfrm rot="5400000">
              <a:off x="2772565" y="1825511"/>
              <a:ext cx="664432" cy="1737011"/>
            </a:xfrm>
            <a:prstGeom prst="homePlate">
              <a:avLst/>
            </a:prstGeom>
            <a:solidFill>
              <a:srgbClr val="E8E8E8"/>
            </a:solidFill>
            <a:ln>
              <a:solidFill>
                <a:srgbClr val="E8E8E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b="1" noProof="0">
                  <a:solidFill>
                    <a:srgbClr val="000000"/>
                  </a:solidFill>
                </a:rPr>
                <a:t>Evaluate</a:t>
              </a: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4659A850-F887-FD5B-DF52-5F4ADA2409B2}"/>
                </a:ext>
              </a:extLst>
            </p:cNvPr>
            <p:cNvSpPr/>
            <p:nvPr/>
          </p:nvSpPr>
          <p:spPr>
            <a:xfrm>
              <a:off x="4405745" y="2361801"/>
              <a:ext cx="6496716" cy="32734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noProof="0"/>
                <a:t>Test and select the most effective AI models for your organisation</a:t>
              </a:r>
              <a:r>
                <a:rPr lang="en-GB" noProof="0">
                  <a:solidFill>
                    <a:schemeClr val="lt1">
                      <a:alpha val="25000"/>
                    </a:schemeClr>
                  </a:solidFill>
                </a:rPr>
                <a:t> (build evaluation set + evaluation standard models)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DCE24705-C3FF-8E46-E711-64706A8C64A8}"/>
              </a:ext>
            </a:extLst>
          </p:cNvPr>
          <p:cNvGrpSpPr/>
          <p:nvPr/>
        </p:nvGrpSpPr>
        <p:grpSpPr>
          <a:xfrm>
            <a:off x="2253914" y="4220562"/>
            <a:ext cx="9318960" cy="664432"/>
            <a:chOff x="2236275" y="2361801"/>
            <a:chExt cx="8666186" cy="664432"/>
          </a:xfrm>
        </p:grpSpPr>
        <p:sp>
          <p:nvSpPr>
            <p:cNvPr id="64" name="Richtungspfeil 63">
              <a:extLst>
                <a:ext uri="{FF2B5EF4-FFF2-40B4-BE49-F238E27FC236}">
                  <a16:creationId xmlns:a16="http://schemas.microsoft.com/office/drawing/2014/main" id="{150B6EE1-5EFE-C863-56DF-B36EA35D16AB}"/>
                </a:ext>
              </a:extLst>
            </p:cNvPr>
            <p:cNvSpPr/>
            <p:nvPr/>
          </p:nvSpPr>
          <p:spPr>
            <a:xfrm rot="5400000">
              <a:off x="2772565" y="1825511"/>
              <a:ext cx="664432" cy="1737011"/>
            </a:xfrm>
            <a:prstGeom prst="homePlate">
              <a:avLst/>
            </a:prstGeom>
            <a:solidFill>
              <a:srgbClr val="E8E8E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b="1" noProof="0">
                  <a:solidFill>
                    <a:srgbClr val="000000"/>
                  </a:solidFill>
                </a:rPr>
                <a:t>Optimise</a:t>
              </a:r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16E298EC-8E3E-9F5D-C691-EAFEE1ECB7A5}"/>
                </a:ext>
              </a:extLst>
            </p:cNvPr>
            <p:cNvSpPr/>
            <p:nvPr/>
          </p:nvSpPr>
          <p:spPr>
            <a:xfrm>
              <a:off x="4405745" y="2361801"/>
              <a:ext cx="6496716" cy="32734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noProof="0"/>
                <a:t>Enhance AI performance with customised training and adjustments </a:t>
              </a:r>
              <a:r>
                <a:rPr lang="en-GB" noProof="0">
                  <a:solidFill>
                    <a:schemeClr val="lt1">
                      <a:alpha val="25000"/>
                    </a:schemeClr>
                  </a:solidFill>
                </a:rPr>
                <a:t>(optimise by In-context learning, fine-tuning or context engineering)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D993729D-6E43-0251-AABE-F4121F28FC42}"/>
              </a:ext>
            </a:extLst>
          </p:cNvPr>
          <p:cNvGrpSpPr/>
          <p:nvPr/>
        </p:nvGrpSpPr>
        <p:grpSpPr>
          <a:xfrm>
            <a:off x="2253914" y="5148064"/>
            <a:ext cx="9318960" cy="664432"/>
            <a:chOff x="2236275" y="2361801"/>
            <a:chExt cx="8666186" cy="664432"/>
          </a:xfrm>
        </p:grpSpPr>
        <p:sp>
          <p:nvSpPr>
            <p:cNvPr id="67" name="Richtungspfeil 66">
              <a:extLst>
                <a:ext uri="{FF2B5EF4-FFF2-40B4-BE49-F238E27FC236}">
                  <a16:creationId xmlns:a16="http://schemas.microsoft.com/office/drawing/2014/main" id="{C02BDB51-D413-00D8-F263-3C00D9BBED45}"/>
                </a:ext>
              </a:extLst>
            </p:cNvPr>
            <p:cNvSpPr/>
            <p:nvPr/>
          </p:nvSpPr>
          <p:spPr>
            <a:xfrm rot="5400000">
              <a:off x="2772565" y="1825511"/>
              <a:ext cx="664432" cy="1737011"/>
            </a:xfrm>
            <a:prstGeom prst="homePlate">
              <a:avLst/>
            </a:prstGeom>
            <a:solidFill>
              <a:srgbClr val="E8E8E8"/>
            </a:solidFill>
            <a:ln>
              <a:solidFill>
                <a:srgbClr val="E8E8E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b="1" noProof="0">
                  <a:solidFill>
                    <a:srgbClr val="000000"/>
                  </a:solidFill>
                </a:rPr>
                <a:t>Maintain</a:t>
              </a: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C6855D09-B4D7-614B-EC4B-297FFDEC2B72}"/>
                </a:ext>
              </a:extLst>
            </p:cNvPr>
            <p:cNvSpPr/>
            <p:nvPr/>
          </p:nvSpPr>
          <p:spPr>
            <a:xfrm>
              <a:off x="4405745" y="2361801"/>
              <a:ext cx="6496716" cy="32734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noProof="0"/>
                <a:t>Launch your AI agent and keep it improving with your feedback</a:t>
              </a:r>
            </a:p>
          </p:txBody>
        </p:sp>
      </p:grpSp>
      <p:sp>
        <p:nvSpPr>
          <p:cNvPr id="70" name="Textfeld 69">
            <a:extLst>
              <a:ext uri="{FF2B5EF4-FFF2-40B4-BE49-F238E27FC236}">
                <a16:creationId xmlns:a16="http://schemas.microsoft.com/office/drawing/2014/main" id="{45DCD6FD-3F6B-EF02-0E89-7C7B28C08DEA}"/>
              </a:ext>
            </a:extLst>
          </p:cNvPr>
          <p:cNvSpPr txBox="1"/>
          <p:nvPr/>
        </p:nvSpPr>
        <p:spPr>
          <a:xfrm>
            <a:off x="5089358" y="44396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68B773D8-18F0-A1A3-7680-1EE0FEF69265}"/>
              </a:ext>
            </a:extLst>
          </p:cNvPr>
          <p:cNvSpPr txBox="1"/>
          <p:nvPr/>
        </p:nvSpPr>
        <p:spPr>
          <a:xfrm>
            <a:off x="6448926" y="43554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7A308886-F00F-C125-A343-13ADC0F544B0}"/>
              </a:ext>
            </a:extLst>
          </p:cNvPr>
          <p:cNvSpPr txBox="1"/>
          <p:nvPr/>
        </p:nvSpPr>
        <p:spPr>
          <a:xfrm>
            <a:off x="5618747" y="53299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CD70761A-C930-349B-0707-D214F71B15AF}"/>
              </a:ext>
            </a:extLst>
          </p:cNvPr>
          <p:cNvSpPr txBox="1"/>
          <p:nvPr/>
        </p:nvSpPr>
        <p:spPr>
          <a:xfrm>
            <a:off x="6737684" y="5245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229952D2-0F6B-A6A5-4495-7985D5DA3E55}"/>
              </a:ext>
            </a:extLst>
          </p:cNvPr>
          <p:cNvSpPr txBox="1"/>
          <p:nvPr/>
        </p:nvSpPr>
        <p:spPr>
          <a:xfrm>
            <a:off x="7551506" y="24863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EE697-9E97-7DCD-574D-70243479A48E}"/>
              </a:ext>
            </a:extLst>
          </p:cNvPr>
          <p:cNvSpPr txBox="1"/>
          <p:nvPr/>
        </p:nvSpPr>
        <p:spPr>
          <a:xfrm>
            <a:off x="1242117" y="5956061"/>
            <a:ext cx="106026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Monetisation through hourly setup fees and usage tiers/ maintenance fees</a:t>
            </a:r>
          </a:p>
        </p:txBody>
      </p:sp>
    </p:spTree>
    <p:extLst>
      <p:ext uri="{BB962C8B-B14F-4D97-AF65-F5344CB8AC3E}">
        <p14:creationId xmlns:p14="http://schemas.microsoft.com/office/powerpoint/2010/main" val="193747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972B-AC9C-21D3-AB12-EF93F875B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794EAFE-9240-D32E-A7BD-D79E676D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en-GB" noProof="0" smtClean="0"/>
              <a:pPr/>
              <a:t>11</a:t>
            </a:fld>
            <a:endParaRPr lang="en-GB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3575C0-7790-D209-C15F-77F9D5B4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SemiBold"/>
              </a:rPr>
              <a:t>From Paid Pilots to scalable ARR</a:t>
            </a:r>
            <a:endParaRPr lang="en-GB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30D2CF-A684-8F64-F655-D5AF5D33E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MONETISATION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4FC43CF8-BE6B-47A2-88C3-7830B1EB04FE}"/>
              </a:ext>
            </a:extLst>
          </p:cNvPr>
          <p:cNvSpPr txBox="1"/>
          <p:nvPr/>
        </p:nvSpPr>
        <p:spPr>
          <a:xfrm>
            <a:off x="5089358" y="44396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63E5FEEE-0D44-D21D-7A37-FA47A2B89387}"/>
              </a:ext>
            </a:extLst>
          </p:cNvPr>
          <p:cNvSpPr txBox="1"/>
          <p:nvPr/>
        </p:nvSpPr>
        <p:spPr>
          <a:xfrm>
            <a:off x="6448926" y="43554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426F9CFD-45AB-F892-8808-BCEF378FD4CE}"/>
              </a:ext>
            </a:extLst>
          </p:cNvPr>
          <p:cNvSpPr txBox="1"/>
          <p:nvPr/>
        </p:nvSpPr>
        <p:spPr>
          <a:xfrm>
            <a:off x="5618747" y="53299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01E1EEFF-967C-1547-4DA4-DB4CD83EA23A}"/>
              </a:ext>
            </a:extLst>
          </p:cNvPr>
          <p:cNvSpPr txBox="1"/>
          <p:nvPr/>
        </p:nvSpPr>
        <p:spPr>
          <a:xfrm>
            <a:off x="6737684" y="5245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B89A68A0-09F5-47CA-5F92-C2F87EABA73B}"/>
              </a:ext>
            </a:extLst>
          </p:cNvPr>
          <p:cNvSpPr txBox="1"/>
          <p:nvPr/>
        </p:nvSpPr>
        <p:spPr>
          <a:xfrm>
            <a:off x="7551506" y="24863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E24B9-E478-E4A2-B96A-29065F74444D}"/>
              </a:ext>
            </a:extLst>
          </p:cNvPr>
          <p:cNvSpPr txBox="1"/>
          <p:nvPr/>
        </p:nvSpPr>
        <p:spPr>
          <a:xfrm>
            <a:off x="1968211" y="2231786"/>
            <a:ext cx="8613757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Agent and orchestration learning layer monetisation</a:t>
            </a:r>
          </a:p>
          <a:p>
            <a:pPr marL="457200" indent="-457200">
              <a:buAutoNum type="arabicParenR"/>
            </a:pPr>
            <a:r>
              <a:rPr lang="en-GB" sz="2400" dirty="0">
                <a:solidFill>
                  <a:schemeClr val="bg1"/>
                </a:solidFill>
              </a:rPr>
              <a:t>Hourly setup fees </a:t>
            </a:r>
          </a:p>
          <a:p>
            <a:pPr marL="457200" indent="-457200">
              <a:buFontTx/>
              <a:buAutoNum type="arabicParenR"/>
            </a:pPr>
            <a:r>
              <a:rPr lang="en-GB" sz="2400" dirty="0">
                <a:solidFill>
                  <a:schemeClr val="bg1"/>
                </a:solidFill>
              </a:rPr>
              <a:t>Maintenance fees and continuous improvement fees</a:t>
            </a:r>
          </a:p>
          <a:p>
            <a:pPr marL="457200" indent="-457200">
              <a:buAutoNum type="arabicParenR"/>
            </a:pPr>
            <a:r>
              <a:rPr lang="en-GB" sz="2400" dirty="0">
                <a:solidFill>
                  <a:schemeClr val="bg1"/>
                </a:solidFill>
              </a:rPr>
              <a:t>Usage based tiers of trained model</a:t>
            </a:r>
          </a:p>
          <a:p>
            <a:pPr marL="457200" indent="-457200">
              <a:buAutoNum type="arabicParenR"/>
            </a:pPr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 err="1">
                <a:solidFill>
                  <a:schemeClr val="bg1"/>
                </a:solidFill>
              </a:rPr>
              <a:t>Aganthos</a:t>
            </a:r>
            <a:r>
              <a:rPr lang="en-GB" sz="2400" dirty="0">
                <a:solidFill>
                  <a:schemeClr val="bg1"/>
                </a:solidFill>
              </a:rPr>
              <a:t> Joint Ventures (planned starting in Q2 2026)</a:t>
            </a:r>
          </a:p>
          <a:p>
            <a:pPr marL="457200" indent="-457200">
              <a:buAutoNum type="arabicParenR"/>
            </a:pPr>
            <a:r>
              <a:rPr lang="en-GB" sz="2400" dirty="0">
                <a:solidFill>
                  <a:schemeClr val="bg1"/>
                </a:solidFill>
              </a:rPr>
              <a:t>Equity + selling goods &amp; services</a:t>
            </a:r>
          </a:p>
          <a:p>
            <a:pPr marL="457200" indent="-457200">
              <a:buAutoNum type="arabicParenR"/>
            </a:pPr>
            <a:r>
              <a:rPr lang="en-GB" sz="2400" dirty="0">
                <a:solidFill>
                  <a:schemeClr val="bg1"/>
                </a:solidFill>
              </a:rPr>
              <a:t>Revenue share</a:t>
            </a:r>
          </a:p>
        </p:txBody>
      </p:sp>
    </p:spTree>
    <p:extLst>
      <p:ext uri="{BB962C8B-B14F-4D97-AF65-F5344CB8AC3E}">
        <p14:creationId xmlns:p14="http://schemas.microsoft.com/office/powerpoint/2010/main" val="3542247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1230-631C-F364-5BA9-7F09F272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AC757AD-9FFC-817D-24BB-E3D71DA9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en-GB" noProof="0" smtClean="0"/>
              <a:pPr/>
              <a:t>12</a:t>
            </a:fld>
            <a:endParaRPr lang="en-GB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AC06882-0B93-2A07-E702-2ADAA73A6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3" y="-113937"/>
            <a:ext cx="11473654" cy="1325563"/>
          </a:xfrm>
        </p:spPr>
        <p:txBody>
          <a:bodyPr>
            <a:normAutofit/>
          </a:bodyPr>
          <a:lstStyle/>
          <a:p>
            <a:r>
              <a:rPr lang="en-GB" b="0" dirty="0">
                <a:latin typeface="Aptos SemiBold"/>
              </a:rPr>
              <a:t>Competition Landscape</a:t>
            </a: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BC57A1-6B03-297D-5E1A-51193D48A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6200000">
            <a:off x="-2672410" y="3084893"/>
            <a:ext cx="5719002" cy="823912"/>
          </a:xfrm>
        </p:spPr>
        <p:txBody>
          <a:bodyPr/>
          <a:lstStyle/>
          <a:p>
            <a:r>
              <a:rPr lang="en-GB" dirty="0">
                <a:latin typeface="Aptos SemiBold"/>
              </a:rPr>
              <a:t>Players in the field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3FC0CF-871D-4041-EB2E-7F480E4EAC53}"/>
              </a:ext>
            </a:extLst>
          </p:cNvPr>
          <p:cNvCxnSpPr>
            <a:cxnSpLocks/>
          </p:cNvCxnSpPr>
          <p:nvPr/>
        </p:nvCxnSpPr>
        <p:spPr>
          <a:xfrm flipV="1">
            <a:off x="1771686" y="3799485"/>
            <a:ext cx="8956379" cy="2169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5F33046-E1CE-02E9-7BD7-DB9732603E8E}"/>
              </a:ext>
            </a:extLst>
          </p:cNvPr>
          <p:cNvSpPr txBox="1"/>
          <p:nvPr/>
        </p:nvSpPr>
        <p:spPr>
          <a:xfrm>
            <a:off x="436828" y="3850818"/>
            <a:ext cx="2337268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H" i="1" dirty="0">
                <a:solidFill>
                  <a:schemeClr val="bg1"/>
                </a:solidFill>
              </a:rPr>
              <a:t>no learning from experience /</a:t>
            </a:r>
            <a:endParaRPr lang="en-US" i="1" dirty="0">
              <a:solidFill>
                <a:schemeClr val="bg1"/>
              </a:solidFill>
            </a:endParaRPr>
          </a:p>
          <a:p>
            <a:pPr algn="ctr"/>
            <a:r>
              <a:rPr lang="en-CH" i="1" dirty="0">
                <a:solidFill>
                  <a:schemeClr val="bg1"/>
                </a:solidFill>
              </a:rPr>
              <a:t>static automation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CBC1FE-8A70-E196-9F5B-EA9746ED9F7E}"/>
              </a:ext>
            </a:extLst>
          </p:cNvPr>
          <p:cNvSpPr txBox="1"/>
          <p:nvPr/>
        </p:nvSpPr>
        <p:spPr>
          <a:xfrm>
            <a:off x="9934048" y="3818824"/>
            <a:ext cx="16735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i="1" noProof="0" dirty="0">
                <a:solidFill>
                  <a:schemeClr val="bg1"/>
                </a:solidFill>
                <a:latin typeface="Aptos"/>
              </a:rPr>
              <a:t>learning</a:t>
            </a:r>
            <a:r>
              <a:rPr lang="en-GB" sz="1800" i="1" baseline="0" noProof="0" dirty="0">
                <a:solidFill>
                  <a:schemeClr val="bg1"/>
                </a:solidFill>
                <a:latin typeface="Aptos"/>
              </a:rPr>
              <a:t> from experience</a:t>
            </a:r>
            <a:r>
              <a:rPr lang="en-GB" sz="1800" i="1" noProof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​</a:t>
            </a:r>
            <a:r>
              <a:rPr lang="en-GB" i="1" noProof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(reinforcement learning)</a:t>
            </a:r>
            <a:endParaRPr lang="en-GB" i="1" noProof="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E5EC3D-295F-006A-CE6B-752F4F328900}"/>
              </a:ext>
            </a:extLst>
          </p:cNvPr>
          <p:cNvCxnSpPr>
            <a:cxnSpLocks/>
          </p:cNvCxnSpPr>
          <p:nvPr/>
        </p:nvCxnSpPr>
        <p:spPr>
          <a:xfrm flipH="1" flipV="1">
            <a:off x="5509952" y="1404174"/>
            <a:ext cx="57486" cy="49249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7ADAA7F-41BD-21E9-0329-07260DE585F8}"/>
              </a:ext>
            </a:extLst>
          </p:cNvPr>
          <p:cNvSpPr txBox="1"/>
          <p:nvPr/>
        </p:nvSpPr>
        <p:spPr>
          <a:xfrm>
            <a:off x="4076191" y="6331801"/>
            <a:ext cx="292197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i="1" dirty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63563-4D0C-D3FC-A134-372839F672DB}"/>
              </a:ext>
            </a:extLst>
          </p:cNvPr>
          <p:cNvSpPr txBox="1"/>
          <p:nvPr/>
        </p:nvSpPr>
        <p:spPr>
          <a:xfrm>
            <a:off x="4158479" y="987133"/>
            <a:ext cx="292197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i="1" dirty="0">
                <a:solidFill>
                  <a:srgbClr val="FFFFFF"/>
                </a:solidFill>
              </a:rPr>
              <a:t>scalable solutions</a:t>
            </a:r>
            <a:endParaRPr 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406C0F-0515-AE8E-D247-5863FB7BA555}"/>
              </a:ext>
            </a:extLst>
          </p:cNvPr>
          <p:cNvSpPr txBox="1"/>
          <p:nvPr/>
        </p:nvSpPr>
        <p:spPr>
          <a:xfrm>
            <a:off x="6177350" y="4383749"/>
            <a:ext cx="2921970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BESPOKE</a:t>
            </a:r>
            <a:endParaRPr lang="en-US" b="1" dirty="0">
              <a:solidFill>
                <a:srgbClr val="FFFFFF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INTELLIGENCE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CH" dirty="0">
                <a:solidFill>
                  <a:schemeClr val="bg1"/>
                </a:solidFill>
              </a:rPr>
              <a:t>Palantir</a:t>
            </a:r>
          </a:p>
          <a:p>
            <a:pPr algn="ctr"/>
            <a:r>
              <a:rPr lang="en-CH" dirty="0">
                <a:solidFill>
                  <a:schemeClr val="bg1"/>
                </a:solidFill>
              </a:rPr>
              <a:t>InstaDeep</a:t>
            </a:r>
          </a:p>
          <a:p>
            <a:pPr algn="ctr"/>
            <a:r>
              <a:rPr lang="en-CH" dirty="0">
                <a:solidFill>
                  <a:schemeClr val="bg1"/>
                </a:solidFill>
              </a:rPr>
              <a:t>Applied Intuition</a:t>
            </a:r>
          </a:p>
          <a:p>
            <a:pPr algn="ctr"/>
            <a:r>
              <a:rPr lang="en-CH" dirty="0">
                <a:solidFill>
                  <a:schemeClr val="bg1"/>
                </a:solidFill>
              </a:rPr>
              <a:t>Helm.ai</a:t>
            </a:r>
          </a:p>
          <a:p>
            <a:pPr algn="ctr"/>
            <a:r>
              <a:rPr lang="en-CH" dirty="0">
                <a:solidFill>
                  <a:schemeClr val="bg1"/>
                </a:solidFill>
              </a:rPr>
              <a:t>PolyAI</a:t>
            </a:r>
          </a:p>
          <a:p>
            <a:pPr algn="ctr"/>
            <a:endParaRPr lang="en-CH" b="1" dirty="0">
              <a:solidFill>
                <a:schemeClr val="bg1"/>
              </a:solidFill>
            </a:endParaRPr>
          </a:p>
          <a:p>
            <a:pPr algn="ctr"/>
            <a:endParaRPr lang="en-CH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F3475-9B59-97B4-E2BB-F751B88DC432}"/>
              </a:ext>
            </a:extLst>
          </p:cNvPr>
          <p:cNvSpPr txBox="1"/>
          <p:nvPr/>
        </p:nvSpPr>
        <p:spPr>
          <a:xfrm>
            <a:off x="2257953" y="4383748"/>
            <a:ext cx="2921970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LEGACY</a:t>
            </a:r>
            <a:br>
              <a:rPr lang="en-US" b="1" dirty="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en-US" b="1" dirty="0">
                <a:solidFill>
                  <a:srgbClr val="FFFFFF"/>
                </a:solidFill>
              </a:rPr>
              <a:t>BPO (with LLM-Wrapper)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CH" dirty="0">
                <a:solidFill>
                  <a:schemeClr val="bg1"/>
                </a:solidFill>
              </a:rPr>
              <a:t>Accenture</a:t>
            </a:r>
          </a:p>
          <a:p>
            <a:pPr algn="ctr"/>
            <a:r>
              <a:rPr lang="en-CH" dirty="0">
                <a:solidFill>
                  <a:schemeClr val="bg1"/>
                </a:solidFill>
              </a:rPr>
              <a:t>Deloitte</a:t>
            </a:r>
          </a:p>
          <a:p>
            <a:pPr algn="ctr"/>
            <a:r>
              <a:rPr lang="en-CH" dirty="0">
                <a:solidFill>
                  <a:schemeClr val="bg1"/>
                </a:solidFill>
              </a:rPr>
              <a:t>UiPath</a:t>
            </a:r>
          </a:p>
          <a:p>
            <a:pPr algn="ctr"/>
            <a:endParaRPr lang="en-CH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D0CCDC-8549-3656-3DE6-EDEEDD78E8A8}"/>
              </a:ext>
            </a:extLst>
          </p:cNvPr>
          <p:cNvSpPr txBox="1"/>
          <p:nvPr/>
        </p:nvSpPr>
        <p:spPr>
          <a:xfrm>
            <a:off x="2089221" y="1364751"/>
            <a:ext cx="292197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STATIC</a:t>
            </a:r>
            <a:br>
              <a:rPr lang="en-US" b="1" dirty="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PLATFORMS</a:t>
            </a:r>
            <a:endParaRPr lang="en-US" b="1" dirty="0">
              <a:solidFill>
                <a:srgbClr val="FFFFFF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CH" dirty="0">
                <a:solidFill>
                  <a:schemeClr val="bg1"/>
                </a:solidFill>
              </a:rPr>
              <a:t>N8N</a:t>
            </a:r>
          </a:p>
          <a:p>
            <a:pPr algn="ctr"/>
            <a:r>
              <a:rPr lang="en-CH" dirty="0">
                <a:solidFill>
                  <a:schemeClr val="bg1"/>
                </a:solidFill>
              </a:rPr>
              <a:t>Zapier</a:t>
            </a:r>
          </a:p>
          <a:p>
            <a:pPr algn="ctr"/>
            <a:r>
              <a:rPr lang="en-CH" dirty="0">
                <a:solidFill>
                  <a:schemeClr val="bg1"/>
                </a:solidFill>
              </a:rPr>
              <a:t>Sema4.ai</a:t>
            </a:r>
          </a:p>
          <a:p>
            <a:pPr algn="ctr"/>
            <a:r>
              <a:rPr lang="en-CH" dirty="0">
                <a:solidFill>
                  <a:schemeClr val="bg1"/>
                </a:solidFill>
              </a:rPr>
              <a:t>11x.ai</a:t>
            </a:r>
          </a:p>
          <a:p>
            <a:pPr algn="ctr"/>
            <a:r>
              <a:rPr lang="en-CH" dirty="0">
                <a:solidFill>
                  <a:schemeClr val="bg1"/>
                </a:solidFill>
              </a:rPr>
              <a:t>Lindy AI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0E911-703E-7B75-5874-69C109ED9820}"/>
              </a:ext>
            </a:extLst>
          </p:cNvPr>
          <p:cNvSpPr txBox="1"/>
          <p:nvPr/>
        </p:nvSpPr>
        <p:spPr>
          <a:xfrm>
            <a:off x="8936988" y="617801"/>
            <a:ext cx="32550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ea typeface="+mn-lt"/>
                <a:cs typeface="+mn-lt"/>
              </a:rPr>
              <a:t>LEARNING AUTOMATION</a:t>
            </a:r>
            <a:endParaRPr lang="en-US" sz="2200" b="1" dirty="0">
              <a:solidFill>
                <a:srgbClr val="FFFFFF"/>
              </a:solidFill>
            </a:endParaRPr>
          </a:p>
          <a:p>
            <a:pPr algn="ctr"/>
            <a:r>
              <a:rPr lang="en-US" sz="2200" b="1" dirty="0">
                <a:solidFill>
                  <a:schemeClr val="bg1"/>
                </a:solidFill>
              </a:rPr>
              <a:t>PLATFORM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A68311-A526-3E40-907F-ECE75178207F}"/>
              </a:ext>
            </a:extLst>
          </p:cNvPr>
          <p:cNvSpPr txBox="1"/>
          <p:nvPr/>
        </p:nvSpPr>
        <p:spPr>
          <a:xfrm>
            <a:off x="7747047" y="1019131"/>
            <a:ext cx="2094675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l</a:t>
            </a:r>
            <a:r>
              <a:rPr lang="en-CH" i="1" dirty="0">
                <a:solidFill>
                  <a:schemeClr val="bg1"/>
                </a:solidFill>
              </a:rPr>
              <a:t>earning &amp;</a:t>
            </a:r>
          </a:p>
          <a:p>
            <a:pPr algn="ctr"/>
            <a:r>
              <a:rPr lang="en-GB" i="1" dirty="0">
                <a:solidFill>
                  <a:schemeClr val="bg1"/>
                </a:solidFill>
              </a:rPr>
              <a:t>o</a:t>
            </a:r>
            <a:r>
              <a:rPr lang="en-CH" i="1" dirty="0">
                <a:solidFill>
                  <a:schemeClr val="bg1"/>
                </a:solidFill>
              </a:rPr>
              <a:t>rchestration layer</a:t>
            </a:r>
          </a:p>
          <a:p>
            <a:pPr algn="ctr"/>
            <a:r>
              <a:rPr lang="en-CH" b="1" dirty="0">
                <a:solidFill>
                  <a:schemeClr val="bg1"/>
                </a:solidFill>
              </a:rPr>
              <a:t>Aganthos</a:t>
            </a:r>
            <a:endParaRPr lang="en-CH" dirty="0">
              <a:solidFill>
                <a:schemeClr val="bg1"/>
              </a:solidFill>
            </a:endParaRPr>
          </a:p>
          <a:p>
            <a:pPr algn="ctr"/>
            <a:r>
              <a:rPr lang="en-CH" dirty="0">
                <a:solidFill>
                  <a:schemeClr val="bg1"/>
                </a:solidFill>
              </a:rPr>
              <a:t>Orby AI, Adept AI, Imbue,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1C6095-5FC5-9796-E4FD-AFA6E72CE507}"/>
              </a:ext>
            </a:extLst>
          </p:cNvPr>
          <p:cNvSpPr txBox="1"/>
          <p:nvPr/>
        </p:nvSpPr>
        <p:spPr>
          <a:xfrm>
            <a:off x="5600772" y="2408618"/>
            <a:ext cx="3182019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l</a:t>
            </a:r>
            <a:r>
              <a:rPr lang="en-GB" i="1" noProof="0" dirty="0">
                <a:solidFill>
                  <a:schemeClr val="bg1"/>
                </a:solidFill>
              </a:rPr>
              <a:t>earning &amp; training infrastructure </a:t>
            </a:r>
          </a:p>
          <a:p>
            <a:pPr algn="ctr"/>
            <a:r>
              <a:rPr lang="en-GB" noProof="0" dirty="0">
                <a:solidFill>
                  <a:schemeClr val="bg1"/>
                </a:solidFill>
              </a:rPr>
              <a:t>Tinker/</a:t>
            </a:r>
            <a:r>
              <a:rPr lang="en-GB" dirty="0">
                <a:solidFill>
                  <a:schemeClr val="bg1"/>
                </a:solidFill>
              </a:rPr>
              <a:t>T</a:t>
            </a:r>
            <a:r>
              <a:rPr lang="en-GB" noProof="0" dirty="0" err="1">
                <a:solidFill>
                  <a:schemeClr val="bg1"/>
                </a:solidFill>
              </a:rPr>
              <a:t>hinking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noProof="0" dirty="0">
                <a:solidFill>
                  <a:schemeClr val="bg1"/>
                </a:solidFill>
              </a:rPr>
              <a:t>Machines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noProof="0" dirty="0">
                <a:solidFill>
                  <a:schemeClr val="bg1"/>
                </a:solidFill>
              </a:rPr>
              <a:t>Lab, </a:t>
            </a:r>
            <a:r>
              <a:rPr lang="en-GB" dirty="0">
                <a:solidFill>
                  <a:schemeClr val="bg1"/>
                </a:solidFill>
              </a:rPr>
              <a:t>Serverless RL/</a:t>
            </a:r>
            <a:r>
              <a:rPr lang="en-GB" dirty="0" err="1">
                <a:solidFill>
                  <a:schemeClr val="bg1"/>
                </a:solidFill>
              </a:rPr>
              <a:t>CoreWeave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86D463-9561-A7C4-D4AA-D6CA52440850}"/>
              </a:ext>
            </a:extLst>
          </p:cNvPr>
          <p:cNvCxnSpPr>
            <a:cxnSpLocks/>
          </p:cNvCxnSpPr>
          <p:nvPr/>
        </p:nvCxnSpPr>
        <p:spPr>
          <a:xfrm>
            <a:off x="6639457" y="1649390"/>
            <a:ext cx="3140400" cy="17123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Grafik 3">
            <a:extLst>
              <a:ext uri="{FF2B5EF4-FFF2-40B4-BE49-F238E27FC236}">
                <a16:creationId xmlns:a16="http://schemas.microsoft.com/office/drawing/2014/main" id="{FF3C6599-2041-EF3D-CDDA-D0C35DB84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8457" y="1639760"/>
            <a:ext cx="161025" cy="252352"/>
          </a:xfrm>
          <a:prstGeom prst="rect">
            <a:avLst/>
          </a:prstGeom>
          <a:effectLst>
            <a:glow rad="139700">
              <a:srgbClr val="EC8782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3340075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3D8A-BD95-2221-7879-8F504E791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66EC73-B53C-5895-D64E-FBE35688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8553" y="6356350"/>
            <a:ext cx="964096" cy="365125"/>
          </a:xfrm>
        </p:spPr>
        <p:txBody>
          <a:bodyPr/>
          <a:lstStyle/>
          <a:p>
            <a:fld id="{74854C1B-64E7-DA42-8A28-A9FD34C52B57}" type="slidenum">
              <a:rPr lang="en-GB" noProof="0" smtClean="0"/>
              <a:pPr/>
              <a:t>13</a:t>
            </a:fld>
            <a:endParaRPr lang="en-GB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2209CB-BD78-80EC-E1DD-2EFFCD4A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Proven technical foundation, now ready to scale with partners</a:t>
            </a:r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0B522-25D0-11A4-F100-80E62C075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6200000">
            <a:off x="-2008700" y="3084894"/>
            <a:ext cx="5719002" cy="823912"/>
          </a:xfrm>
        </p:spPr>
        <p:txBody>
          <a:bodyPr/>
          <a:lstStyle/>
          <a:p>
            <a:r>
              <a:rPr lang="en-GB" noProof="0" dirty="0">
                <a:latin typeface="Aptos SemiBold"/>
              </a:rPr>
              <a:t>Scaling</a:t>
            </a:r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9C7B8-EB71-8FE8-9679-685A5E2731EF}"/>
              </a:ext>
            </a:extLst>
          </p:cNvPr>
          <p:cNvSpPr txBox="1"/>
          <p:nvPr/>
        </p:nvSpPr>
        <p:spPr>
          <a:xfrm>
            <a:off x="1711377" y="7916625"/>
            <a:ext cx="929640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GB" b="1" dirty="0">
                <a:solidFill>
                  <a:schemeClr val="bg1"/>
                </a:solidFill>
              </a:rPr>
              <a:t>Traction to Date:</a:t>
            </a:r>
            <a:endParaRPr lang="en-GB" dirty="0">
              <a:solidFill>
                <a:schemeClr val="bg1"/>
              </a:solidFill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Trained proprietary 1.5B and 3B parameter models for tool orchestration.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Functional UI prototype developed and in iteration.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Initial co-entrepreneur explorations underway with firms in Law, Finance, and Lobbying, and Coaching/Mediation.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Demo interface built.</a:t>
            </a:r>
          </a:p>
          <a:p>
            <a:pPr fontAlgn="base"/>
            <a:endParaRPr lang="en-GB" dirty="0">
              <a:solidFill>
                <a:schemeClr val="bg1"/>
              </a:solidFill>
            </a:endParaRPr>
          </a:p>
          <a:p>
            <a:pPr fontAlgn="base"/>
            <a:r>
              <a:rPr lang="en-GB" b="1" dirty="0">
                <a:solidFill>
                  <a:schemeClr val="bg1"/>
                </a:solidFill>
              </a:rPr>
              <a:t>Currently: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In discussion with multinational companies for design partnerships.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fontAlgn="base"/>
            <a:r>
              <a:rPr lang="en-GB" b="1" dirty="0">
                <a:solidFill>
                  <a:schemeClr val="bg1"/>
                </a:solidFill>
              </a:rPr>
              <a:t>Next (With Pre-Seed Funding):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Q3/Q4 2025: Complete onboarding of our first 3 Design Partners and train the model.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2026  Ship V1 of the Nexis Orchestration Platform and full Personal Project Manager UI. Launch joint ventures.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2027: Scale development to enable "Multi-Step + Multi-Human" orchestration.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5BEBC0-9A27-1434-C1F5-75017AFCB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103166"/>
              </p:ext>
            </p:extLst>
          </p:nvPr>
        </p:nvGraphicFramePr>
        <p:xfrm>
          <a:off x="1302672" y="1841147"/>
          <a:ext cx="10849566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582">
                  <a:extLst>
                    <a:ext uri="{9D8B030D-6E8A-4147-A177-3AD203B41FA5}">
                      <a16:colId xmlns:a16="http://schemas.microsoft.com/office/drawing/2014/main" val="3260930009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2915311851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3134619484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3167022362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3372486812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1412469067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856834377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2835887889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815115763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1461068974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4290090175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389669260"/>
                    </a:ext>
                  </a:extLst>
                </a:gridCol>
                <a:gridCol w="834582">
                  <a:extLst>
                    <a:ext uri="{9D8B030D-6E8A-4147-A177-3AD203B41FA5}">
                      <a16:colId xmlns:a16="http://schemas.microsoft.com/office/drawing/2014/main" val="1698237185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CH" sz="1800" b="0">
                          <a:solidFill>
                            <a:schemeClr val="bg1"/>
                          </a:solidFill>
                        </a:rPr>
                        <a:t>..24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>
                    <a:lnL w="12700" cmpd="sng">
                      <a:noFill/>
                    </a:ln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CH" sz="1800" b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CH" sz="1800" b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CH" sz="1800" b="0">
                          <a:solidFill>
                            <a:schemeClr val="bg1"/>
                          </a:solidFill>
                        </a:rPr>
                        <a:t>27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506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 dirty="0">
                          <a:solidFill>
                            <a:schemeClr val="bg1"/>
                          </a:solidFill>
                        </a:rPr>
                        <a:t>Q2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1800">
                          <a:solidFill>
                            <a:schemeClr val="bg1"/>
                          </a:solidFill>
                        </a:rPr>
                        <a:t>Q3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333011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CH" sz="1800" dirty="0">
                          <a:solidFill>
                            <a:schemeClr val="bg1"/>
                          </a:solidFill>
                        </a:rPr>
                        <a:t>RL Research &amp; Benchmark Validation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>
                        <a:highlight>
                          <a:srgbClr val="0000FF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>
                        <a:highlight>
                          <a:srgbClr val="0000FF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>
                        <a:highlight>
                          <a:srgbClr val="0000FF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437305"/>
                  </a:ext>
                </a:extLst>
              </a:tr>
              <a:tr h="353712"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RL </a:t>
                      </a:r>
                      <a:r>
                        <a:rPr lang="en-GB" sz="18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Posttraining</a:t>
                      </a:r>
                      <a:endParaRPr lang="de-CH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de-CH" sz="1800" dirty="0">
                          <a:solidFill>
                            <a:schemeClr val="bg1"/>
                          </a:solidFill>
                        </a:rPr>
                        <a:t>Multi-</a:t>
                      </a:r>
                      <a:r>
                        <a:rPr lang="de-CH" sz="1800" dirty="0" err="1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de-CH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dirty="0">
                          <a:solidFill>
                            <a:schemeClr val="bg1"/>
                          </a:solidFill>
                        </a:rPr>
                        <a:t>+ HITL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…c</a:t>
                      </a:r>
                      <a:r>
                        <a:rPr lang="en-CH" sz="1800" dirty="0">
                          <a:solidFill>
                            <a:schemeClr val="bg1"/>
                          </a:solidFill>
                        </a:rPr>
                        <a:t>ontinuous improvement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02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013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dirty="0">
                          <a:solidFill>
                            <a:schemeClr val="bg1"/>
                          </a:solidFill>
                        </a:rPr>
                        <a:t>First hire</a:t>
                      </a:r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H" sz="1800" dirty="0">
                          <a:solidFill>
                            <a:schemeClr val="bg1"/>
                          </a:solidFill>
                        </a:rPr>
                        <a:t>Researchers &amp; Engineers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79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H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H" sz="1800" dirty="0">
                          <a:solidFill>
                            <a:schemeClr val="bg1"/>
                          </a:solidFill>
                        </a:rPr>
                        <a:t>1st paid Partnership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B060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dirty="0">
                          <a:solidFill>
                            <a:schemeClr val="bg1"/>
                          </a:solidFill>
                        </a:rPr>
                        <a:t>2-3 Design Partnerships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B060C"/>
                    </a:solidFill>
                  </a:tcPr>
                </a:tc>
                <a:tc gridSpan="5">
                  <a:txBody>
                    <a:bodyPr/>
                    <a:lstStyle/>
                    <a:p>
                      <a:r>
                        <a:rPr lang="en-CH" sz="1800" dirty="0">
                          <a:solidFill>
                            <a:schemeClr val="bg1"/>
                          </a:solidFill>
                        </a:rPr>
                        <a:t>Joint Venture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050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H" sz="1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207279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5C709C-2132-B9A4-5D26-46E441097EEA}"/>
              </a:ext>
            </a:extLst>
          </p:cNvPr>
          <p:cNvCxnSpPr>
            <a:cxnSpLocks/>
          </p:cNvCxnSpPr>
          <p:nvPr/>
        </p:nvCxnSpPr>
        <p:spPr>
          <a:xfrm>
            <a:off x="6331274" y="1864836"/>
            <a:ext cx="0" cy="4576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C73BE01-4BBB-B5E5-E7BF-AFD088C3F48A}"/>
              </a:ext>
            </a:extLst>
          </p:cNvPr>
          <p:cNvSpPr/>
          <p:nvPr/>
        </p:nvSpPr>
        <p:spPr>
          <a:xfrm>
            <a:off x="6331274" y="5235173"/>
            <a:ext cx="4065043" cy="896182"/>
          </a:xfrm>
          <a:prstGeom prst="rightArrow">
            <a:avLst/>
          </a:prstGeom>
          <a:solidFill>
            <a:srgbClr val="70050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Pre-seed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0D98780-B541-AED7-7E47-254B9D0EDDAE}"/>
              </a:ext>
            </a:extLst>
          </p:cNvPr>
          <p:cNvSpPr/>
          <p:nvPr/>
        </p:nvSpPr>
        <p:spPr>
          <a:xfrm>
            <a:off x="10430883" y="5235173"/>
            <a:ext cx="1681600" cy="896182"/>
          </a:xfrm>
          <a:prstGeom prst="rightArrow">
            <a:avLst/>
          </a:prstGeom>
          <a:solidFill>
            <a:srgbClr val="70050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/>
              <a:t>Series A</a:t>
            </a:r>
          </a:p>
        </p:txBody>
      </p:sp>
      <p:pic>
        <p:nvPicPr>
          <p:cNvPr id="7" name="Graphic 6" descr="Hospital outline">
            <a:extLst>
              <a:ext uri="{FF2B5EF4-FFF2-40B4-BE49-F238E27FC236}">
                <a16:creationId xmlns:a16="http://schemas.microsoft.com/office/drawing/2014/main" id="{B1BC7EDD-BBAE-9435-9329-A8EEF1AD6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736" y="5202934"/>
            <a:ext cx="517073" cy="49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30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C4BA-F555-74AA-EC39-337DA7E9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66E198-BDD7-AE1A-6B92-6A86F3D4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4C1B-64E7-DA42-8A28-A9FD34C52B57}" type="slidenum">
              <a:rPr lang="en-GB" noProof="0" smtClean="0"/>
              <a:pPr/>
              <a:t>14</a:t>
            </a:fld>
            <a:endParaRPr lang="en-GB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EA309-D7ED-D0C5-4548-98AFAC9486C5}"/>
              </a:ext>
            </a:extLst>
          </p:cNvPr>
          <p:cNvSpPr txBox="1"/>
          <p:nvPr/>
        </p:nvSpPr>
        <p:spPr>
          <a:xfrm>
            <a:off x="1176627" y="2041133"/>
            <a:ext cx="929640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500" i="1" dirty="0">
                <a:solidFill>
                  <a:schemeClr val="bg1"/>
                </a:solidFill>
                <a:ea typeface="+mn-lt"/>
                <a:cs typeface="+mn-lt"/>
              </a:rPr>
              <a:t>We </a:t>
            </a:r>
            <a:r>
              <a:rPr lang="en-GB" sz="2500" b="1" i="1" dirty="0">
                <a:solidFill>
                  <a:schemeClr val="bg1"/>
                </a:solidFill>
                <a:latin typeface="Aptos Black" panose="020B0004020202020204" pitchFamily="34" charset="0"/>
                <a:ea typeface="+mn-lt"/>
                <a:cs typeface="+mn-lt"/>
              </a:rPr>
              <a:t>empower</a:t>
            </a:r>
            <a:r>
              <a:rPr lang="en-GB" sz="2500" i="1" dirty="0">
                <a:solidFill>
                  <a:schemeClr val="bg1"/>
                </a:solidFill>
                <a:ea typeface="+mn-lt"/>
                <a:cs typeface="+mn-lt"/>
              </a:rPr>
              <a:t> professionals to break free from routine tasks.</a:t>
            </a:r>
          </a:p>
          <a:p>
            <a:pPr algn="ctr"/>
            <a:endParaRPr lang="en-GB" sz="2500" i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GB" sz="2500" i="1" dirty="0">
                <a:solidFill>
                  <a:schemeClr val="bg1"/>
                </a:solidFill>
                <a:ea typeface="+mn-lt"/>
                <a:cs typeface="+mn-lt"/>
              </a:rPr>
              <a:t>We </a:t>
            </a:r>
            <a:r>
              <a:rPr lang="en-GB" sz="2500" b="1" i="1" dirty="0">
                <a:solidFill>
                  <a:schemeClr val="bg1"/>
                </a:solidFill>
                <a:latin typeface="Aptos Black" panose="020B0004020202020204" pitchFamily="34" charset="0"/>
                <a:ea typeface="+mn-lt"/>
                <a:cs typeface="+mn-lt"/>
              </a:rPr>
              <a:t>orchestrate</a:t>
            </a:r>
            <a:r>
              <a:rPr lang="en-GB" sz="2500" i="1" dirty="0">
                <a:solidFill>
                  <a:schemeClr val="bg1"/>
                </a:solidFill>
                <a:ea typeface="+mn-lt"/>
                <a:cs typeface="+mn-lt"/>
              </a:rPr>
              <a:t> a world where human creativity thrives.</a:t>
            </a:r>
          </a:p>
          <a:p>
            <a:pPr algn="ctr"/>
            <a:endParaRPr lang="en-GB" sz="2500" i="1" dirty="0">
              <a:solidFill>
                <a:schemeClr val="bg1"/>
              </a:solidFill>
            </a:endParaRPr>
          </a:p>
          <a:p>
            <a:pPr algn="ctr"/>
            <a:r>
              <a:rPr lang="en-GB" sz="2500" i="1" dirty="0">
                <a:solidFill>
                  <a:schemeClr val="bg1"/>
                </a:solidFill>
                <a:ea typeface="+mn-lt"/>
                <a:cs typeface="+mn-lt"/>
              </a:rPr>
              <a:t>We </a:t>
            </a:r>
            <a:r>
              <a:rPr lang="en-GB" sz="2500" b="1" i="1" dirty="0">
                <a:solidFill>
                  <a:schemeClr val="bg1"/>
                </a:solidFill>
                <a:latin typeface="Aptos Black" panose="020B0004020202020204" pitchFamily="34" charset="0"/>
                <a:ea typeface="+mn-lt"/>
                <a:cs typeface="+mn-lt"/>
              </a:rPr>
              <a:t>innovate</a:t>
            </a:r>
            <a:r>
              <a:rPr lang="en-GB" sz="2500" i="1" dirty="0">
                <a:solidFill>
                  <a:schemeClr val="bg1"/>
                </a:solidFill>
                <a:ea typeface="+mn-lt"/>
                <a:cs typeface="+mn-lt"/>
              </a:rPr>
              <a:t> to build breakthrough solutions for a better future.</a:t>
            </a:r>
          </a:p>
          <a:p>
            <a:pPr algn="ctr"/>
            <a:endParaRPr lang="en-GB" sz="2500" i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GB" sz="2500" i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GB" sz="2500" i="1" dirty="0">
                <a:solidFill>
                  <a:schemeClr val="bg1"/>
                </a:solidFill>
                <a:ea typeface="+mn-lt"/>
                <a:cs typeface="+mn-lt"/>
              </a:rPr>
              <a:t>We provide the learning layer for agents that drive performance.</a:t>
            </a:r>
            <a:endParaRPr lang="en-GB" sz="2500" i="1" dirty="0">
              <a:solidFill>
                <a:schemeClr val="bg1"/>
              </a:solidFill>
            </a:endParaRPr>
          </a:p>
        </p:txBody>
      </p:sp>
      <p:pic>
        <p:nvPicPr>
          <p:cNvPr id="3" name="Grafik 6">
            <a:extLst>
              <a:ext uri="{FF2B5EF4-FFF2-40B4-BE49-F238E27FC236}">
                <a16:creationId xmlns:a16="http://schemas.microsoft.com/office/drawing/2014/main" id="{70EF9C00-F5A1-34D1-4030-710012361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8504" y="5996432"/>
            <a:ext cx="2301296" cy="221888"/>
          </a:xfrm>
          <a:prstGeom prst="rect">
            <a:avLst/>
          </a:prstGeom>
        </p:spPr>
      </p:pic>
      <p:pic>
        <p:nvPicPr>
          <p:cNvPr id="4" name="Grafik 5">
            <a:extLst>
              <a:ext uri="{FF2B5EF4-FFF2-40B4-BE49-F238E27FC236}">
                <a16:creationId xmlns:a16="http://schemas.microsoft.com/office/drawing/2014/main" id="{46F4C22F-1B0A-E565-C36D-37BB1EFE61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0597" y="6002316"/>
            <a:ext cx="300083" cy="466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F53EF4-79A3-6A3F-1934-CEA122FFCA40}"/>
              </a:ext>
            </a:extLst>
          </p:cNvPr>
          <p:cNvSpPr txBox="1"/>
          <p:nvPr/>
        </p:nvSpPr>
        <p:spPr>
          <a:xfrm>
            <a:off x="8818504" y="6203425"/>
            <a:ext cx="1974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600" dirty="0">
                <a:solidFill>
                  <a:schemeClr val="bg1"/>
                </a:solidFill>
                <a:hlinkClick r:id="rId6"/>
              </a:rPr>
              <a:t>www.aganthos.com</a:t>
            </a:r>
            <a:endParaRPr lang="en-CH" sz="1600" dirty="0">
              <a:solidFill>
                <a:schemeClr val="bg1"/>
              </a:solidFill>
            </a:endParaRPr>
          </a:p>
          <a:p>
            <a:r>
              <a:rPr lang="en-CH" sz="1600" dirty="0">
                <a:solidFill>
                  <a:schemeClr val="bg1"/>
                </a:solidFill>
              </a:rPr>
              <a:t>info@aganthos.com</a:t>
            </a:r>
          </a:p>
        </p:txBody>
      </p:sp>
    </p:spTree>
    <p:extLst>
      <p:ext uri="{BB962C8B-B14F-4D97-AF65-F5344CB8AC3E}">
        <p14:creationId xmlns:p14="http://schemas.microsoft.com/office/powerpoint/2010/main" val="1102332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4074</TotalTime>
  <Words>1043</Words>
  <Application>Microsoft Macintosh PowerPoint</Application>
  <PresentationFormat>Widescreen</PresentationFormat>
  <Paragraphs>207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Aptos Black</vt:lpstr>
      <vt:lpstr>Aptos Display</vt:lpstr>
      <vt:lpstr>Aptos Light</vt:lpstr>
      <vt:lpstr>Aptos SemiBold</vt:lpstr>
      <vt:lpstr>Arial</vt:lpstr>
      <vt:lpstr>Calibri</vt:lpstr>
      <vt:lpstr>Wingdings</vt:lpstr>
      <vt:lpstr>Office</vt:lpstr>
      <vt:lpstr>Benutzerdefiniertes Design</vt:lpstr>
      <vt:lpstr>PowerPoint Presentation</vt:lpstr>
      <vt:lpstr>Orchestrate the Future Together</vt:lpstr>
      <vt:lpstr>Status</vt:lpstr>
      <vt:lpstr>PowerPoint Presentation</vt:lpstr>
      <vt:lpstr>AI Agent Challenges</vt:lpstr>
      <vt:lpstr>We create measurable value</vt:lpstr>
      <vt:lpstr>The Learning Flywheel Learning as a Service</vt:lpstr>
      <vt:lpstr>Learning Agents</vt:lpstr>
      <vt:lpstr>A Case Study with a large German University Hospital (Post-training as Service)</vt:lpstr>
      <vt:lpstr>From Pilot to Long-lasting Customer Relationship</vt:lpstr>
      <vt:lpstr>From Paid Pilots to scalable ARR</vt:lpstr>
      <vt:lpstr>Competition Landscape</vt:lpstr>
      <vt:lpstr>Proven technical foundation, now ready to scale with partners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Tobias Schuster</cp:lastModifiedBy>
  <cp:revision>306</cp:revision>
  <dcterms:created xsi:type="dcterms:W3CDTF">2025-06-05T20:09:11Z</dcterms:created>
  <dcterms:modified xsi:type="dcterms:W3CDTF">2026-03-09T22:19:55Z</dcterms:modified>
</cp:coreProperties>
</file>